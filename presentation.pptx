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7772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</a:rPr>
              <a:t>Event Intelligence for BTP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83464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i="1">
                <a:solidFill>
                  <a:srgbClr val="B8C5D6"/>
                </a:solidFill>
              </a:rPr>
              <a:t>From Reactive Response to Proactive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70332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700">
                <a:solidFill>
                  <a:srgbClr val="D0DCEA"/>
                </a:solidFill>
              </a:rPr>
              <a:t>▸  Dataset:  8,173 real ASTraM events  ·  Bengaluru  ·  Nov 2023 – Apr 2024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D0DCEA"/>
                </a:solidFill>
              </a:rPr>
              <a:t>▸  Three pillars:  Forecast Impact  →  Recommend Resources  →  Keep Learning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D0DCEA"/>
                </a:solidFill>
              </a:rPr>
              <a:t>▸  Live prototype:  Streamlit dashboard  +  real-time Event Simulator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D0DCEA"/>
                </a:solidFill>
              </a:rPr>
              <a:t>▸  Every number traces back to BTP's own ASTraM records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5943600"/>
            <a:ext cx="365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B7F99"/>
                </a:solidFill>
              </a:rPr>
              <a:t>Gridlock Hackathon 2.0  ·  PS2  ·  Bengaluru Traffic Police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The Problem: Three Gaps BTP Faces Today</a:t>
            </a:r>
          </a:p>
          <a:p>
            <a:pPr algn="l"/>
            <a:r>
              <a:rPr sz="1400" b="0">
                <a:solidFill>
                  <a:srgbClr val="B8C5D6"/>
                </a:solidFill>
              </a:rPr>
              <a:t>BTP's own brief names the gaps — we built exactly one pillar per gap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417320"/>
            <a:ext cx="73152" cy="118872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A233A"/>
                </a:solidFill>
              </a:rPr>
              <a:t>GAP 1 — Impact Not Quantified</a:t>
            </a:r>
          </a:p>
          <a:p>
            <a:r>
              <a:rPr sz="1600">
                <a:solidFill>
                  <a:srgbClr val="55657A"/>
                </a:solidFill>
              </a:rPr>
              <a:t>Officers arrive with no estimate of how long an event will last
or whether the road will close. Every incident looks equally urgent.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880360"/>
            <a:ext cx="73152" cy="118872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88036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A233A"/>
                </a:solidFill>
              </a:rPr>
              <a:t>GAP 2 — Experience-Driven Deployment</a:t>
            </a:r>
          </a:p>
          <a:p>
            <a:r>
              <a:rPr sz="1600">
                <a:solidFill>
                  <a:srgbClr val="55657A"/>
                </a:solidFill>
              </a:rPr>
              <a:t>Manpower decisions depend on individual judgment — inconsistent
across shifts and zones. No principled resource model exists.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343400"/>
            <a:ext cx="73152" cy="118872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34340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A233A"/>
                </a:solidFill>
              </a:rPr>
              <a:t>GAP 3 — No Post-Event Learning</a:t>
            </a:r>
          </a:p>
          <a:p>
            <a:r>
              <a:rPr sz="1600">
                <a:solidFill>
                  <a:srgbClr val="55657A"/>
                </a:solidFill>
              </a:rPr>
              <a:t>Each event is forgotten once cleared. Patterns repeat. The system
never improves. The event mix keeps shifting undetected.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7607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6B00"/>
                </a:solidFill>
              </a:rPr>
              <a:t>94% of events are unplanned  |  62% (5,030) flagged High priority  |  Event mix shifts month-over-month without a learning loop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The Data: Real BTP Records — No Synthetic Fabrication</a:t>
            </a:r>
          </a:p>
          <a:p>
            <a:pPr algn="l"/>
            <a:r>
              <a:rPr sz="1400" b="0">
                <a:solidFill>
                  <a:srgbClr val="B8C5D6"/>
                </a:solidFill>
              </a:rPr>
              <a:t>8,173 ASTraM events · 6 months · entire city · used as-is from the provided dataset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800">
                <a:solidFill>
                  <a:srgbClr val="1A233A"/>
                </a:solidFill>
              </a:rPr>
              <a:t>▸  Time span: November 2023 – April 2024 — 6 full months of city-wide incident data</a:t>
            </a:r>
          </a:p>
          <a:p>
            <a:pPr>
              <a:spcBef>
                <a:spcPts val="700"/>
              </a:spcBef>
            </a:pPr>
            <a:r>
              <a:rPr sz="1800">
                <a:solidFill>
                  <a:srgbClr val="1A233A"/>
                </a:solidFill>
              </a:rPr>
              <a:t>▸  Coverage: all corridors, zones, junctions, and priority levels across Bengaluru</a:t>
            </a:r>
          </a:p>
          <a:p>
            <a:pPr>
              <a:spcBef>
                <a:spcPts val="700"/>
              </a:spcBef>
            </a:pPr>
            <a:r>
              <a:rPr sz="1800">
                <a:solidFill>
                  <a:srgbClr val="1A233A"/>
                </a:solidFill>
              </a:rPr>
              <a:t>▸  116 malformed timestamps caught and corrected during ingestion — zero silent data loss</a:t>
            </a:r>
          </a:p>
          <a:p>
            <a:pPr>
              <a:spcBef>
                <a:spcPts val="700"/>
              </a:spcBef>
            </a:pPr>
            <a:r>
              <a:rPr sz="1800">
                <a:solidFill>
                  <a:srgbClr val="1A233A"/>
                </a:solidFill>
              </a:rPr>
              <a:t>▸  Features used at inference: event cause, type, corridor, zone, junction, police station,</a:t>
            </a:r>
          </a:p>
          <a:p>
            <a:pPr>
              <a:spcBef>
                <a:spcPts val="700"/>
              </a:spcBef>
            </a:pPr>
            <a:r>
              <a:rPr sz="1500">
                <a:solidFill>
                  <a:srgbClr val="55657A"/>
                </a:solidFill>
              </a:rPr>
              <a:t>      vehicle type, priority, latitude/longitude, hour, day-of-week, month</a:t>
            </a:r>
          </a:p>
          <a:p>
            <a:pPr>
              <a:spcBef>
                <a:spcPts val="700"/>
              </a:spcBef>
            </a:pPr>
            <a:r>
              <a:rPr sz="1800">
                <a:solidFill>
                  <a:srgbClr val="1A233A"/>
                </a:solidFill>
              </a:rPr>
              <a:t>▸  Only provided ASTraM data used — no external feeds, no synthetic rows</a:t>
            </a:r>
          </a:p>
          <a:p>
            <a:pPr>
              <a:spcBef>
                <a:spcPts val="700"/>
              </a:spcBef>
            </a:pPr>
            <a:r>
              <a:rPr sz="1800">
                <a:solidFill>
                  <a:srgbClr val="1A233A"/>
                </a:solidFill>
              </a:rPr>
              <a:t>▸  Every figure traces to a specific cell in the dataset or EDA table — fully auditable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Key Insights: What the Data Actually Says</a:t>
            </a:r>
          </a:p>
          <a:p>
            <a:pPr algn="l"/>
            <a:r>
              <a:rPr sz="1400" b="0">
                <a:solidFill>
                  <a:srgbClr val="B8C5D6"/>
                </a:solidFill>
              </a:rPr>
              <a:t>Four findings that directly shape the solution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508760"/>
            <a:ext cx="64008" cy="77724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463040"/>
            <a:ext cx="6858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233A"/>
                </a:solidFill>
              </a:rPr>
              <a:t>60% breakdowns  ·  two corridors carry 100% high-priority</a:t>
            </a:r>
          </a:p>
          <a:p>
            <a:r>
              <a:rPr sz="1400">
                <a:solidFill>
                  <a:srgbClr val="55657A"/>
                </a:solidFill>
              </a:rPr>
              <a:t>4,896 vehicle breakdowns — concentrated on Mysore Road (743 events)
and Bellary Road 1 (610 events), both 100% high-priority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2514600"/>
            <a:ext cx="64008" cy="77724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2468880"/>
            <a:ext cx="6858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233A"/>
                </a:solidFill>
              </a:rPr>
              <a:t>Construction = 5-hour bottleneck</a:t>
            </a:r>
          </a:p>
          <a:p>
            <a:r>
              <a:rPr sz="1400">
                <a:solidFill>
                  <a:srgbClr val="55657A"/>
                </a:solidFill>
              </a:rPr>
              <a:t>Median clearance 296 min vs 41 min for breakdowns;
P75 stretches to 427 min — 7× slower than a typical breakdown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3566160"/>
            <a:ext cx="64008" cy="77724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3520440"/>
            <a:ext cx="6858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233A"/>
                </a:solidFill>
              </a:rPr>
              <a:t>80% of events are off-peak  ·  2 AM is the busiest single hour</a:t>
            </a:r>
          </a:p>
          <a:p>
            <a:r>
              <a:rPr sz="1400">
                <a:solidFill>
                  <a:srgbClr val="55657A"/>
                </a:solidFill>
              </a:rPr>
              <a:t>845 events at 2 AM — uncleared night breakdowns become the 8 AM gridlock.
Night-shift coverage is not optional; it is the peak-volume hour.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4617720"/>
            <a:ext cx="64008" cy="77724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4572000"/>
            <a:ext cx="6858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233A"/>
                </a:solidFill>
              </a:rPr>
              <a:t>Event mix is drifting — static models degrade quietly</a:t>
            </a:r>
          </a:p>
          <a:p>
            <a:r>
              <a:rPr sz="1400">
                <a:solidFill>
                  <a:srgbClr val="55657A"/>
                </a:solidFill>
              </a:rPr>
              <a:t>Breakdown share: 66% → 49% over 6 months.
Road-closure rate: 6.4% → 9.4%. A frozen model never knows this.</a:t>
            </a:r>
          </a:p>
        </p:txBody>
      </p:sp>
      <p:pic>
        <p:nvPicPr>
          <p:cNvPr id="13" name="Picture 12" descr="fig_04_corrid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417320"/>
            <a:ext cx="429768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Our Solution: Three Pillars + One Dashboard</a:t>
            </a:r>
          </a:p>
          <a:p>
            <a:pPr algn="l"/>
            <a:r>
              <a:rPr sz="1400" b="0">
                <a:solidFill>
                  <a:srgbClr val="B8C5D6"/>
                </a:solidFill>
              </a:rPr>
              <a:t>One input (the event report).  Three outputs.  One interface.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417320"/>
            <a:ext cx="11521440" cy="41148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53896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PILLAR 1 — Forecast 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56232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1A233A"/>
                </a:solidFill>
              </a:rPr>
              <a:t>   ▸  Road-closure probability (AUC 0.816 on future data)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233A"/>
                </a:solidFill>
              </a:rPr>
              <a:t>   ▸  Expected clearance time — benchmarked per cause from EDA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233A"/>
                </a:solidFill>
              </a:rPr>
              <a:t>   ▸  Severity label: Low / Medium / High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834640"/>
            <a:ext cx="11521440" cy="41148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871216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PILLAR 2 — Recommendation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73552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1A233A"/>
                </a:solidFill>
              </a:rPr>
              <a:t>   ▸  Officer count  |  Barricade flag  |  Diversion route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233A"/>
                </a:solidFill>
              </a:rPr>
              <a:t>   ▸  Nearest responding police station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233A"/>
                </a:solidFill>
              </a:rPr>
              <a:t>   ▸  Plain-English rationale — designed for field officers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4251960"/>
            <a:ext cx="1152144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288536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PILLAR 3 — Post-Event Learning 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690872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1A233A"/>
                </a:solidFill>
              </a:rPr>
              <a:t>   ▸  Monthly retrain on new resolved events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233A"/>
                </a:solidFill>
              </a:rPr>
              <a:t>   ▸  Drift monitoring — alert if AUC drops below 0.70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233A"/>
                </a:solidFill>
              </a:rPr>
              <a:t>   ▸  Feb 2024 proof: retrained +1.8 pp vs frozen static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576072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6B00"/>
                </a:solidFill>
              </a:rPr>
              <a:t>Streamlit dashboard: live map · hotspot heatmap · trend charts · Event Simulator (live demo at the finale)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Pillar 1: Impact Forecasting — Honest Model Results</a:t>
            </a:r>
          </a:p>
          <a:p>
            <a:pPr algn="l"/>
            <a:r>
              <a:rPr sz="1400" b="0">
                <a:solidFill>
                  <a:srgbClr val="B8C5D6"/>
                </a:solidFill>
              </a:rPr>
              <a:t>CatBoost · time-based train/test split · trained on past, tested on future months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71323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A233A"/>
                </a:solidFill>
              </a:rPr>
              <a:t>Road-closure classifier (CatBoost)  —  primary signal</a:t>
            </a:r>
          </a:p>
          <a:p>
            <a:pPr>
              <a:spcBef>
                <a:spcPts val="400"/>
              </a:spcBef>
            </a:pPr>
          </a:p>
          <a:p>
            <a:r>
              <a:rPr sz="1500" b="1">
                <a:solidFill>
                  <a:srgbClr val="FF6B00"/>
                </a:solidFill>
              </a:rPr>
              <a:t>Future months (Mar–Apr 2024)    ROC-AUC  0.816   F1  0.450</a:t>
            </a:r>
          </a:p>
          <a:p>
            <a:r>
              <a:rPr sz="1500" b="1">
                <a:solidFill>
                  <a:srgbClr val="FF6B00"/>
                </a:solidFill>
              </a:rPr>
              <a:t>Unseen corridors (6 held out)      ROC-AUC  ~0.70 (0.696)   F1  0.335</a:t>
            </a:r>
          </a:p>
          <a:p>
            <a:r>
              <a:rPr sz="1500" b="1">
                <a:solidFill>
                  <a:srgbClr val="FF6B00"/>
                </a:solidFill>
              </a:rPr>
              <a:t>Cold-start (unseen corridor + junction)   ROC-AUC  ~0.73 (0.731)</a:t>
            </a:r>
          </a:p>
          <a:p>
            <a:pPr>
              <a:spcBef>
                <a:spcPts val="400"/>
              </a:spcBef>
            </a:pPr>
          </a:p>
          <a:p>
            <a:r>
              <a:rPr sz="1400">
                <a:solidFill>
                  <a:srgbClr val="55657A"/>
                </a:solidFill>
              </a:rPr>
              <a:t>F1 is lower — road closures are rare (8.3%).  AUC is the correct metric</a:t>
            </a:r>
          </a:p>
          <a:p>
            <a:r>
              <a:rPr sz="1400">
                <a:solidFill>
                  <a:srgbClr val="55657A"/>
                </a:solidFill>
              </a:rPr>
              <a:t>for a skewed binary target; it measures ranking ability at all thresholds.</a:t>
            </a:r>
          </a:p>
          <a:p>
            <a:pPr>
              <a:spcBef>
                <a:spcPts val="400"/>
              </a:spcBef>
            </a:pPr>
          </a:p>
          <a:p>
            <a:r>
              <a:rPr sz="1400" b="0">
                <a:solidFill>
                  <a:srgbClr val="1A233A"/>
                </a:solidFill>
              </a:rPr>
              <a:t>Top feature: event cause (36 pts) — closure risk estimated from cause alone</a:t>
            </a:r>
          </a:p>
          <a:p>
            <a:r>
              <a:rPr sz="1400">
                <a:solidFill>
                  <a:srgbClr val="55657A"/>
                </a:solidFill>
              </a:rPr>
              <a:t>even when corridor is entirely unseen.</a:t>
            </a:r>
          </a:p>
          <a:p>
            <a:pPr>
              <a:spcBef>
                <a:spcPts val="400"/>
              </a:spcBef>
            </a:pPr>
          </a:p>
          <a:p>
            <a:r>
              <a:rPr sz="1700" b="1">
                <a:solidFill>
                  <a:srgbClr val="1A233A"/>
                </a:solidFill>
              </a:rPr>
              <a:t>Duration benchmark  —  honest planning uncertainty</a:t>
            </a:r>
          </a:p>
          <a:p>
            <a:r>
              <a:rPr sz="1400">
                <a:solidFill>
                  <a:srgbClr val="55657A"/>
                </a:solidFill>
              </a:rPr>
              <a:t>MAE ~103 min on future data.  R² ≈ 0  (duration is not reliably predictable).</a:t>
            </a:r>
          </a:p>
          <a:p>
            <a:r>
              <a:rPr sz="1400" b="0">
                <a:solidFill>
                  <a:srgbClr val="1A233A"/>
                </a:solidFill>
              </a:rPr>
              <a:t>EDA cause medians used instead:  breakdown 41 min  ·  construction 296 min</a:t>
            </a:r>
          </a:p>
        </p:txBody>
      </p:sp>
      <p:pic>
        <p:nvPicPr>
          <p:cNvPr id="6" name="Picture 5" descr="fig_07_le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417320"/>
            <a:ext cx="420624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Pillar 2: Recommendation Engine — A Worked Example</a:t>
            </a:r>
          </a:p>
          <a:p>
            <a:pPr algn="l"/>
            <a:r>
              <a:rPr sz="1400" b="0">
                <a:solidFill>
                  <a:srgbClr val="B8C5D6"/>
                </a:solidFill>
              </a:rPr>
              <a:t>What a field officer sees within seconds of logging an event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417320"/>
            <a:ext cx="11430000" cy="41148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4475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Scenario: Construction on Mysore Road · 9 AM · High priority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38528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233A"/>
                </a:solidFill>
              </a:rPr>
              <a:t>Expected clearance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193852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FF6B00"/>
                </a:solidFill>
              </a:rPr>
              <a:t>~296 min  (EDA: construction median — nearly 5 hours)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505456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233A"/>
                </a:solidFill>
              </a:rPr>
              <a:t>Road-closure probability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505456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FF6B00"/>
                </a:solidFill>
              </a:rPr>
              <a:t>62%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72384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233A"/>
                </a:solidFill>
              </a:rPr>
              <a:t>Severity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3072384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FF6B00"/>
                </a:solidFill>
              </a:rPr>
              <a:t>HIGH  (all four scoring signals fire)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639312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233A"/>
                </a:solidFill>
              </a:rPr>
              <a:t>Recommended officers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363931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FF6B00"/>
                </a:solidFill>
              </a:rPr>
              <a:t>10  (base 6 + 2 peak-hour + 2 closure bonus)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20624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233A"/>
                </a:solidFill>
              </a:rPr>
              <a:t>Barricading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420624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FF6B00"/>
                </a:solidFill>
              </a:rPr>
              <a:t>YES  (62% &gt; 35% threshold = 4× the historical base rate)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773168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233A"/>
                </a:solidFill>
              </a:rPr>
              <a:t>Diversion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477316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FF6B00"/>
                </a:solidFill>
              </a:rPr>
              <a:t>Magadi Road or Chord Road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340096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233A"/>
                </a:solidFill>
              </a:rPr>
              <a:t>Responding station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5340096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FF6B00"/>
                </a:solidFill>
              </a:rPr>
              <a:t>Halasuru Gate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76072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5657A"/>
                </a:solidFill>
              </a:rPr>
              <a:t>▸  Officer count: severity tier sets base (Low=2, Med=4, High=6); peak-hour and closure bonuses are structured — no black box</a:t>
            </a:r>
          </a:p>
          <a:p>
            <a:r>
              <a:rPr sz="1200">
                <a:solidFill>
                  <a:srgbClr val="55657A"/>
                </a:solidFill>
              </a:rPr>
              <a:t>▸  Barricade threshold 35% = 4× historical base rate of 8.3%</a:t>
            </a:r>
          </a:p>
          <a:p>
            <a:r>
              <a:rPr sz="1200">
                <a:solidFill>
                  <a:srgbClr val="55657A"/>
                </a:solidFill>
              </a:rPr>
              <a:t>▸  Station fallback: corridor history → zone history → Haversine nearest — never crashes on unseen locations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Pillar 3: The Learning Loop</a:t>
            </a:r>
          </a:p>
          <a:p>
            <a:pPr algn="l"/>
            <a:r>
              <a:rPr sz="1400" b="0">
                <a:solidFill>
                  <a:srgbClr val="B8C5D6"/>
                </a:solidFill>
              </a:rPr>
              <a:t>A static model is a liability — the event mix is already shifting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481328"/>
            <a:ext cx="2468880" cy="347472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508760"/>
            <a:ext cx="2377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Month tested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1481328"/>
            <a:ext cx="3291840" cy="347472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71800" y="1508760"/>
            <a:ext cx="3200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Static (frozen) AUC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481328"/>
            <a:ext cx="2743200" cy="347472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508760"/>
            <a:ext cx="26517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Retrained AUC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26880" y="1481328"/>
            <a:ext cx="2560320" cy="347472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1508760"/>
            <a:ext cx="2468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Difference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874519"/>
            <a:ext cx="2468880" cy="429768"/>
          </a:xfrm>
          <a:prstGeom prst="rect">
            <a:avLst/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1911095"/>
            <a:ext cx="2377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>
                <a:solidFill>
                  <a:srgbClr val="1A233A"/>
                </a:solidFill>
              </a:rPr>
              <a:t>Jan 2024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1874519"/>
            <a:ext cx="3291840" cy="429768"/>
          </a:xfrm>
          <a:prstGeom prst="rect">
            <a:avLst/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800" y="1911095"/>
            <a:ext cx="3200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>
                <a:solidFill>
                  <a:srgbClr val="1A233A"/>
                </a:solidFill>
              </a:rPr>
              <a:t>0.751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1874519"/>
            <a:ext cx="2743200" cy="429768"/>
          </a:xfrm>
          <a:prstGeom prst="rect">
            <a:avLst/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11095"/>
            <a:ext cx="2651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>
                <a:solidFill>
                  <a:srgbClr val="1A233A"/>
                </a:solidFill>
              </a:rPr>
              <a:t>0.747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0" y="1874519"/>
            <a:ext cx="2560320" cy="429768"/>
          </a:xfrm>
          <a:prstGeom prst="rect">
            <a:avLst/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72600" y="1911095"/>
            <a:ext cx="2468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>
                <a:solidFill>
                  <a:srgbClr val="1A233A"/>
                </a:solidFill>
              </a:rPr>
              <a:t>−0.004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350008"/>
            <a:ext cx="2468880" cy="429768"/>
          </a:xfrm>
          <a:prstGeom prst="rect">
            <a:avLst/>
          </a:prstGeom>
          <a:solidFill>
            <a:srgbClr val="FFE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2386584"/>
            <a:ext cx="2377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>
                <a:solidFill>
                  <a:srgbClr val="1A233A"/>
                </a:solidFill>
              </a:rPr>
              <a:t>Feb 2024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26080" y="2350008"/>
            <a:ext cx="3291840" cy="429768"/>
          </a:xfrm>
          <a:prstGeom prst="rect">
            <a:avLst/>
          </a:prstGeom>
          <a:solidFill>
            <a:srgbClr val="FFE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71800" y="2386584"/>
            <a:ext cx="3200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6B00"/>
                </a:solidFill>
              </a:rPr>
              <a:t>0.696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2350008"/>
            <a:ext cx="2743200" cy="429768"/>
          </a:xfrm>
          <a:prstGeom prst="rect">
            <a:avLst/>
          </a:prstGeom>
          <a:solidFill>
            <a:srgbClr val="FFE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2386584"/>
            <a:ext cx="2651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6B00"/>
                </a:solidFill>
              </a:rPr>
              <a:t>0.714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26880" y="2350008"/>
            <a:ext cx="2560320" cy="429768"/>
          </a:xfrm>
          <a:prstGeom prst="rect">
            <a:avLst/>
          </a:prstGeom>
          <a:solidFill>
            <a:srgbClr val="FFE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72600" y="2386584"/>
            <a:ext cx="2468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6B00"/>
                </a:solidFill>
              </a:rPr>
              <a:t>+0.018  ← key failure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2825496"/>
            <a:ext cx="2468880" cy="429768"/>
          </a:xfrm>
          <a:prstGeom prst="rect">
            <a:avLst/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2862072"/>
            <a:ext cx="2377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>
                <a:solidFill>
                  <a:srgbClr val="1A233A"/>
                </a:solidFill>
              </a:rPr>
              <a:t>Mar 2024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80" y="2825496"/>
            <a:ext cx="3291840" cy="429768"/>
          </a:xfrm>
          <a:prstGeom prst="rect">
            <a:avLst/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71800" y="2862072"/>
            <a:ext cx="3200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>
                <a:solidFill>
                  <a:srgbClr val="1A233A"/>
                </a:solidFill>
              </a:rPr>
              <a:t>0.792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2825496"/>
            <a:ext cx="2743200" cy="429768"/>
          </a:xfrm>
          <a:prstGeom prst="rect">
            <a:avLst/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6520" y="2862072"/>
            <a:ext cx="2651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>
                <a:solidFill>
                  <a:srgbClr val="1A233A"/>
                </a:solidFill>
              </a:rPr>
              <a:t>0.805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26880" y="2825496"/>
            <a:ext cx="2560320" cy="429768"/>
          </a:xfrm>
          <a:prstGeom prst="rect">
            <a:avLst/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72600" y="2862072"/>
            <a:ext cx="2468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>
                <a:solidFill>
                  <a:srgbClr val="1A233A"/>
                </a:solidFill>
              </a:rPr>
              <a:t>+0.013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300984"/>
            <a:ext cx="2468880" cy="429768"/>
          </a:xfrm>
          <a:prstGeom prst="rect">
            <a:avLst/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3337560"/>
            <a:ext cx="2377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>
                <a:solidFill>
                  <a:srgbClr val="1A233A"/>
                </a:solidFill>
              </a:rPr>
              <a:t>Apr 2024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926080" y="3300984"/>
            <a:ext cx="3291840" cy="429768"/>
          </a:xfrm>
          <a:prstGeom prst="rect">
            <a:avLst/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71800" y="3337560"/>
            <a:ext cx="3200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>
                <a:solidFill>
                  <a:srgbClr val="1A233A"/>
                </a:solidFill>
              </a:rPr>
              <a:t>0.822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3300984"/>
            <a:ext cx="2743200" cy="429768"/>
          </a:xfrm>
          <a:prstGeom prst="rect">
            <a:avLst/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46520" y="3337560"/>
            <a:ext cx="2651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>
                <a:solidFill>
                  <a:srgbClr val="1A233A"/>
                </a:solidFill>
              </a:rPr>
              <a:t>0.838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326880" y="3300984"/>
            <a:ext cx="2560320" cy="429768"/>
          </a:xfrm>
          <a:prstGeom prst="rect">
            <a:avLst/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72600" y="3337560"/>
            <a:ext cx="2468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>
                <a:solidFill>
                  <a:srgbClr val="1A233A"/>
                </a:solidFill>
              </a:rPr>
              <a:t>+0.016</a:t>
            </a:r>
          </a:p>
        </p:txBody>
      </p:sp>
      <p:pic>
        <p:nvPicPr>
          <p:cNvPr id="45" name="Picture 44" descr="fig_07_le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481328"/>
            <a:ext cx="4480560" cy="384048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365760" y="4617720"/>
            <a:ext cx="6858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1A233A"/>
                </a:solidFill>
              </a:rPr>
              <a:t>▸  Feb is the clearest case: static drops to AUC 0.696; retrained holds at 0.714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1A233A"/>
                </a:solidFill>
              </a:rPr>
              <a:t>▸  Retraining never materially hurts (Jan: −0.004 pp, negligible)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1A233A"/>
                </a:solidFill>
              </a:rPr>
              <a:t>▸  Recommended cadence: monthly — aligns with observed cause-mix shift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1A233A"/>
                </a:solidFill>
              </a:rPr>
              <a:t>▸  Alert triggered automatically if AUC drops below 0.70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Robustness: Works on Data the Model Has Never Seen</a:t>
            </a:r>
          </a:p>
          <a:p>
            <a:pPr algn="l"/>
            <a:r>
              <a:rPr sz="1400" b="0">
                <a:solidFill>
                  <a:srgbClr val="B8C5D6"/>
                </a:solidFill>
              </a:rPr>
              <a:t>Three validation dimensions — because production is always the future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554480"/>
            <a:ext cx="64008" cy="86868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112471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A233A"/>
                </a:solidFill>
              </a:rPr>
              <a:t>Future time (primary)</a:t>
            </a:r>
          </a:p>
          <a:p>
            <a:r>
              <a:rPr sz="1400" i="1">
                <a:solidFill>
                  <a:srgbClr val="55657A"/>
                </a:solidFill>
              </a:rPr>
              <a:t>Train Nov–Feb  →  test Mar–Apr 2024</a:t>
            </a:r>
          </a:p>
          <a:p>
            <a:r>
              <a:rPr sz="1500">
                <a:solidFill>
                  <a:srgbClr val="FF6B00"/>
                </a:solidFill>
              </a:rPr>
              <a:t>AUC 0.816 (closure)  ·  MAE ~103 min (duration)  ·  R² ≈ 0 (intentional — use EDA medians)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2724912"/>
            <a:ext cx="64008" cy="86868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12471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A233A"/>
                </a:solidFill>
              </a:rPr>
              <a:t>Unseen locations</a:t>
            </a:r>
          </a:p>
          <a:p>
            <a:r>
              <a:rPr sz="1400" i="1">
                <a:solidFill>
                  <a:srgbClr val="55657A"/>
                </a:solidFill>
              </a:rPr>
              <a:t>6 corridors held out entirely from training</a:t>
            </a:r>
          </a:p>
          <a:p>
            <a:r>
              <a:rPr sz="1500">
                <a:solidFill>
                  <a:srgbClr val="FF6B00"/>
                </a:solidFill>
              </a:rPr>
              <a:t>AUC ~0.70 (0.696)  ·  Cold-start (unseen corridor + junction): AUC ~0.73 (0.731)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3895343"/>
            <a:ext cx="64008" cy="86868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822191"/>
            <a:ext cx="112471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A233A"/>
                </a:solidFill>
              </a:rPr>
              <a:t>Completely new event</a:t>
            </a:r>
          </a:p>
          <a:p>
            <a:r>
              <a:rPr sz="1400" i="1">
                <a:solidFill>
                  <a:srgbClr val="55657A"/>
                </a:solidFill>
              </a:rPr>
              <a:t>Fog / Low Visibility on NH-44 Bypass — not in any training record</a:t>
            </a:r>
          </a:p>
          <a:p>
            <a:r>
              <a:rPr sz="1500">
                <a:solidFill>
                  <a:srgbClr val="FF6B00"/>
                </a:solidFill>
              </a:rPr>
              <a:t>Degrades gracefully: zone fallback station  ·  AUC-estimated closure  ·  41-min benchmark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937760"/>
            <a:ext cx="115214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 Out-of-fold target encoding (alpha=20) prevents leakage; new corridors fall back to global prior — no crash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 CatBoost handles completely unseen cause labels natively at inference time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 Three-layer station lookup (corridor → zone → Haversine) always returns a valid station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 116 malformed timestamps caught and corrected — pipeline tolerates real-world messy ASTraM data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 78/78 formal tests pass — including empty dict, all-unseen categories, and sparse inputs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Real-World Impact &amp; Scalability for BTP</a:t>
            </a:r>
          </a:p>
          <a:p>
            <a:pPr algn="l"/>
            <a:r>
              <a:rPr sz="1400" b="0">
                <a:solidFill>
                  <a:srgbClr val="B8C5D6"/>
                </a:solidFill>
              </a:rPr>
              <a:t>What changes the day BTP deploys this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463040"/>
            <a:ext cx="6400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A233A"/>
                </a:solidFill>
              </a:rPr>
              <a:t>Immediate operational changes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74520"/>
            <a:ext cx="6217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A233A"/>
                </a:solidFill>
              </a:rPr>
              <a:t>▸  Every logged event gets severity label + officer count in under 1 second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76856"/>
            <a:ext cx="6217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A233A"/>
                </a:solidFill>
              </a:rPr>
              <a:t>▸  Closure-risk events (Mysore Road construction 62%) trigger barricade pre-staging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79192"/>
            <a:ext cx="6217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A233A"/>
                </a:solidFill>
              </a:rPr>
              <a:t>▸  Night-shift gap quantified: 845 events at 2 AM demand staffed response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81528"/>
            <a:ext cx="6217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A233A"/>
                </a:solidFill>
              </a:rPr>
              <a:t>▸  Seasonal planning: March surge (1,956 events) can be resourced in advance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621024"/>
            <a:ext cx="6400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A233A"/>
                </a:solidFill>
              </a:rPr>
              <a:t>Scalability — honest assessment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32504"/>
            <a:ext cx="6217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A233A"/>
                </a:solidFill>
              </a:rPr>
              <a:t>▸  Retraining: under 5 minutes on a laptop; new corridors handled without code changes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434840"/>
            <a:ext cx="6217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A233A"/>
                </a:solidFill>
              </a:rPr>
              <a:t>▸  Real-time feed: replace CSV loader with API call — all downstream logic unchanged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837176"/>
            <a:ext cx="6217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A233A"/>
                </a:solidFill>
              </a:rPr>
              <a:t>▸  Other cities: retrain on that city's data; one config change (fallback station)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1463040"/>
            <a:ext cx="47548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C0392B"/>
                </a:solidFill>
              </a:rPr>
              <a:t>What this is not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1874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55657A"/>
                </a:solidFill>
              </a:rPr>
              <a:t>✗  Not a replacement for field judgment — officer counts are starting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2350008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55657A"/>
                </a:solidFill>
              </a:rPr>
              <a:t>✗  Not a real-time signal controller — it advises dispatchers, does not automate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2825496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55657A"/>
                </a:solidFill>
              </a:rPr>
              <a:t>✗  Not a substitute for live traffic feed data — diversion routes not dynamically verified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Test Suite: 78/78 Passing — Zero Failures</a:t>
            </a:r>
          </a:p>
          <a:p>
            <a:pPr algn="l"/>
            <a:r>
              <a:rPr sz="1400" b="0">
                <a:solidFill>
                  <a:srgbClr val="B8C5D6"/>
                </a:solidFill>
              </a:rPr>
              <a:t>Formal reproducible test suite covers every layer of the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481328"/>
            <a:ext cx="11521440" cy="804672"/>
          </a:xfrm>
          <a:prstGeom prst="rect">
            <a:avLst/>
          </a:prstGeom>
          <a:solidFill>
            <a:srgbClr val="F0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17904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A233A"/>
                </a:solidFill>
              </a:rPr>
              <a:t>(32 tests)  Data &amp; Cleaning edge cases</a:t>
            </a:r>
          </a:p>
          <a:p>
            <a:r>
              <a:rPr sz="1400">
                <a:solidFill>
                  <a:srgbClr val="55657A"/>
                </a:solidFill>
              </a:rPr>
              <a:t>Timestamp parsing · negative durations · unseen cause labels · missing fields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1618488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27AE60"/>
                </a:solidFill>
              </a:rPr>
              <a:t>✓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359152"/>
            <a:ext cx="11521440" cy="80467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39572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A233A"/>
                </a:solidFill>
              </a:rPr>
              <a:t>(7 tests)  Accuracy on unseen data</a:t>
            </a:r>
          </a:p>
          <a:p>
            <a:r>
              <a:rPr sz="1400">
                <a:solidFill>
                  <a:srgbClr val="55657A"/>
                </a:solidFill>
              </a:rPr>
              <a:t>AUC on future months · unseen corridors · cold-start — no training data leakage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2496312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27AE60"/>
                </a:solidFill>
              </a:rPr>
              <a:t>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236976"/>
            <a:ext cx="11521440" cy="804672"/>
          </a:xfrm>
          <a:prstGeom prst="rect">
            <a:avLst/>
          </a:prstGeom>
          <a:solidFill>
            <a:srgbClr val="F0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273552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A233A"/>
                </a:solidFill>
              </a:rPr>
              <a:t>(12 tests)  predict_impact robustness</a:t>
            </a:r>
          </a:p>
          <a:p>
            <a:r>
              <a:rPr sz="1400">
                <a:solidFill>
                  <a:srgbClr val="55657A"/>
                </a:solidFill>
              </a:rPr>
              <a:t>Empty dict · all-unseen categories · sparse input — always returns valid in-range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3374136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27AE60"/>
                </a:solidFill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114800"/>
            <a:ext cx="11521440" cy="80467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151376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A233A"/>
                </a:solidFill>
              </a:rPr>
              <a:t>(24 tests)  recommend() robustness</a:t>
            </a:r>
          </a:p>
          <a:p>
            <a:r>
              <a:rPr sz="1400">
                <a:solidFill>
                  <a:srgbClr val="55657A"/>
                </a:solidFill>
              </a:rPr>
              <a:t>All 17 cause values · unseen corridor + cause · empty dict — always returns all 8 keys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425196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27AE60"/>
                </a:solidFill>
              </a:rPr>
              <a:t>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4992624"/>
            <a:ext cx="11521440" cy="804672"/>
          </a:xfrm>
          <a:prstGeom prst="rect">
            <a:avLst/>
          </a:prstGeom>
          <a:solidFill>
            <a:srgbClr val="F0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5029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A233A"/>
                </a:solidFill>
              </a:rPr>
              <a:t>(3 tests)  Dashboard smoke test</a:t>
            </a:r>
          </a:p>
          <a:p>
            <a:r>
              <a:rPr sz="1400">
                <a:solidFill>
                  <a:srgbClr val="55657A"/>
                </a:solidFill>
              </a:rPr>
              <a:t>AppTest load · form submit · output rendered — zero exceptions on a full run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5129784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27AE60"/>
                </a:solidFill>
              </a:rPr>
              <a:t>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The Ask</a:t>
            </a:r>
          </a:p>
          <a:p>
            <a:pPr algn="l"/>
            <a:r>
              <a:rPr sz="1400" b="0">
                <a:solidFill>
                  <a:srgbClr val="B8C5D6"/>
                </a:solidFill>
              </a:rPr>
              <a:t>One prototype ready now.  Three things needed to make it operational.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463040"/>
            <a:ext cx="11430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A233A"/>
                </a:solidFill>
              </a:rPr>
              <a:t>What we've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4708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1A233A"/>
                </a:solidFill>
              </a:rPr>
              <a:t>▸  Notebook: full EDA + model training + learning-loop comparison, all reproducible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233A"/>
                </a:solidFill>
              </a:rPr>
              <a:t>▸  Streamlit dashboard with live Event Simulator — inference under 1 second per event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233A"/>
                </a:solidFill>
              </a:rPr>
              <a:t>▸  Monthly retraining script ready to schedule; 78/78 formal tests pass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971800"/>
            <a:ext cx="457200" cy="45720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3008376"/>
            <a:ext cx="457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718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A233A"/>
                </a:solidFill>
              </a:rPr>
              <a:t>Access to a live ASTraM feed</a:t>
            </a:r>
          </a:p>
          <a:p>
            <a:r>
              <a:rPr sz="1400">
                <a:solidFill>
                  <a:srgbClr val="55657A"/>
                </a:solidFill>
              </a:rPr>
              <a:t>Move from historical replay to real-time recommendations — pipeline is already built for 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977639"/>
            <a:ext cx="457200" cy="45720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4014215"/>
            <a:ext cx="457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977639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A233A"/>
                </a:solidFill>
              </a:rPr>
              <a:t>Feedback labels from field officers</a:t>
            </a:r>
          </a:p>
          <a:p>
            <a:r>
              <a:rPr sz="1400">
                <a:solidFill>
                  <a:srgbClr val="55657A"/>
                </a:solidFill>
              </a:rPr>
              <a:t>"Was the closure prediction right? Was manpower sufficient?" — closes the learning loop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983480"/>
            <a:ext cx="457200" cy="45720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5020056"/>
            <a:ext cx="457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9834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A233A"/>
                </a:solidFill>
              </a:rPr>
              <a:t>Pilot corridor: Mysore Road  ·  30 days</a:t>
            </a:r>
          </a:p>
          <a:p>
            <a:r>
              <a:rPr sz="1400">
                <a:solidFill>
                  <a:srgbClr val="55657A"/>
                </a:solidFill>
              </a:rPr>
              <a:t>Run recommendations alongside manual dispatch; compare officer utilisation and response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989320"/>
            <a:ext cx="11521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6B00"/>
                </a:solidFill>
              </a:rPr>
              <a:t>Flipkart ask: infrastructure + deployment support for the Streamlit dashboard on BTP's internal network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