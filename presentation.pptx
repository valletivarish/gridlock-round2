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01168" cy="68580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371600"/>
            <a:ext cx="7772400" cy="1371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l"/>
            <a:r>
              <a:rPr sz="4600" b="1">
                <a:solidFill>
                  <a:srgbClr val="FFFFFF"/>
                </a:solidFill>
              </a:rPr>
              <a:t>Event Intelligence for BTP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834640"/>
            <a:ext cx="8229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2200" i="1">
                <a:solidFill>
                  <a:srgbClr val="B8C5D6"/>
                </a:solidFill>
              </a:rPr>
              <a:t>From Reactive Response to Proactive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703320"/>
            <a:ext cx="100584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600"/>
              </a:spcBef>
            </a:pPr>
            <a:r>
              <a:rPr sz="1700">
                <a:solidFill>
                  <a:srgbClr val="D0DCEA"/>
                </a:solidFill>
              </a:rPr>
              <a:t>▸  Dataset:  8,173 real ASTraM events  ·  Bengaluru  ·  Nov 2023 – Apr 2024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D0DCEA"/>
                </a:solidFill>
              </a:rPr>
              <a:t>▸  Three pillars:  Forecast Impact  →  Recommend Resources  →  Keep Learning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D0DCEA"/>
                </a:solidFill>
              </a:rPr>
              <a:t>▸  Live prototype:  Streamlit dashboard  —  Event Response + City Insights</a:t>
            </a:r>
          </a:p>
          <a:p>
            <a:pPr>
              <a:spcBef>
                <a:spcPts val="600"/>
              </a:spcBef>
            </a:pPr>
            <a:r>
              <a:rPr sz="1700">
                <a:solidFill>
                  <a:srgbClr val="D0DCEA"/>
                </a:solidFill>
              </a:rPr>
              <a:t>▸  Every number traces back to BTP's own ASTraM records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0" y="5943600"/>
            <a:ext cx="365760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100">
                <a:solidFill>
                  <a:srgbClr val="6B7F99"/>
                </a:solidFill>
              </a:rPr>
              <a:t>Gridlock Hackathon 2.0  ·  PS2  ·  Bengaluru Traffic Police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The Problem: Three Gaps BTP Faces Today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BTP's own brief names the gaps — we built exactly one pillar per gap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73152" cy="118872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41732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233A"/>
                </a:solidFill>
              </a:rPr>
              <a:t>GAP 1 — Impact Not Quantified</a:t>
            </a:r>
          </a:p>
          <a:p>
            <a:r>
              <a:rPr sz="1600">
                <a:solidFill>
                  <a:srgbClr val="55657A"/>
                </a:solidFill>
              </a:rPr>
              <a:t>Officers arrive with no estimate of how long an event will last
or whether the road will close. Every incident looks equally urgent.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880360"/>
            <a:ext cx="73152" cy="118872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288036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233A"/>
                </a:solidFill>
              </a:rPr>
              <a:t>GAP 2 — Experience-Driven Deployment</a:t>
            </a:r>
          </a:p>
          <a:p>
            <a:r>
              <a:rPr sz="1600">
                <a:solidFill>
                  <a:srgbClr val="55657A"/>
                </a:solidFill>
              </a:rPr>
              <a:t>Manpower decisions depend on individual judgment — inconsistent
across shifts and zones. No principled resource model exists.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343400"/>
            <a:ext cx="73152" cy="118872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4343400"/>
            <a:ext cx="11247120" cy="1234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800" b="1">
                <a:solidFill>
                  <a:srgbClr val="1A233A"/>
                </a:solidFill>
              </a:rPr>
              <a:t>GAP 3 — No Post-Event Learning</a:t>
            </a:r>
          </a:p>
          <a:p>
            <a:r>
              <a:rPr sz="1600">
                <a:solidFill>
                  <a:srgbClr val="55657A"/>
                </a:solidFill>
              </a:rPr>
              <a:t>Each event is forgotten once cleared. Patterns repeat. The system
never improves. The event mix keeps shifting undetected.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5760720"/>
            <a:ext cx="1143000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6B00"/>
                </a:solidFill>
              </a:rPr>
              <a:t>94% of events are unplanned  |  62% (5,030) flagged High priority  |  Event mix shifts month-over-month without a learning loop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The Data: Real BTP Records — No Synthetic Fabrication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8,173 ASTraM events · 6 months · entire city · used as-is from the provided dataset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484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700"/>
              </a:spcBef>
            </a:pPr>
            <a:r>
              <a:rPr sz="1800">
                <a:solidFill>
                  <a:srgbClr val="1A233A"/>
                </a:solidFill>
              </a:rPr>
              <a:t>▸  Time span: November 2023 – April 2024 — 6 full months of city-wide incident data</a:t>
            </a:r>
          </a:p>
          <a:p>
            <a:pPr>
              <a:spcBef>
                <a:spcPts val="700"/>
              </a:spcBef>
            </a:pPr>
            <a:r>
              <a:rPr sz="1800">
                <a:solidFill>
                  <a:srgbClr val="1A233A"/>
                </a:solidFill>
              </a:rPr>
              <a:t>▸  Coverage: all corridors, zones, junctions, and priority levels across Bengaluru</a:t>
            </a:r>
          </a:p>
          <a:p>
            <a:pPr>
              <a:spcBef>
                <a:spcPts val="700"/>
              </a:spcBef>
            </a:pPr>
            <a:r>
              <a:rPr sz="1800">
                <a:solidFill>
                  <a:srgbClr val="1A233A"/>
                </a:solidFill>
              </a:rPr>
              <a:t>▸  116 malformed timestamps caught and corrected during ingestion — zero silent data loss</a:t>
            </a:r>
          </a:p>
          <a:p>
            <a:pPr>
              <a:spcBef>
                <a:spcPts val="700"/>
              </a:spcBef>
            </a:pPr>
            <a:r>
              <a:rPr sz="1800">
                <a:solidFill>
                  <a:srgbClr val="1A233A"/>
                </a:solidFill>
              </a:rPr>
              <a:t>▸  Features used at inference: event cause, type, corridor, zone, junction, police station,</a:t>
            </a:r>
          </a:p>
          <a:p>
            <a:pPr>
              <a:spcBef>
                <a:spcPts val="700"/>
              </a:spcBef>
            </a:pPr>
            <a:r>
              <a:rPr sz="1500">
                <a:solidFill>
                  <a:srgbClr val="55657A"/>
                </a:solidFill>
              </a:rPr>
              <a:t>      vehicle type, priority, latitude/longitude, hour, day-of-week, month</a:t>
            </a:r>
          </a:p>
          <a:p>
            <a:pPr>
              <a:spcBef>
                <a:spcPts val="700"/>
              </a:spcBef>
            </a:pPr>
            <a:r>
              <a:rPr sz="1800">
                <a:solidFill>
                  <a:srgbClr val="1A233A"/>
                </a:solidFill>
              </a:rPr>
              <a:t>▸  Only provided ASTraM data used — no external feeds, no synthetic rows</a:t>
            </a:r>
          </a:p>
          <a:p>
            <a:pPr>
              <a:spcBef>
                <a:spcPts val="700"/>
              </a:spcBef>
            </a:pPr>
            <a:r>
              <a:rPr sz="1800">
                <a:solidFill>
                  <a:srgbClr val="1A233A"/>
                </a:solidFill>
              </a:rPr>
              <a:t>▸  Every figure traces to a specific cell in the dataset or EDA table — fully auditable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Key Insights: What the Data Actually Says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Four findings that directly shape the solution design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508760"/>
            <a:ext cx="64008" cy="77724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463040"/>
            <a:ext cx="6858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60% breakdowns  ·  two corridors carry 100% high-priority</a:t>
            </a:r>
          </a:p>
          <a:p>
            <a:r>
              <a:rPr sz="1400">
                <a:solidFill>
                  <a:srgbClr val="55657A"/>
                </a:solidFill>
              </a:rPr>
              <a:t>4,896 vehicle breakdowns — concentrated on Mysore Road (743 events)
and Bellary Road 1 (610 events), both 100% high-priority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514600"/>
            <a:ext cx="64008" cy="77724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30352" y="2468880"/>
            <a:ext cx="6858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Construction = 5-hour bottleneck</a:t>
            </a:r>
          </a:p>
          <a:p>
            <a:r>
              <a:rPr sz="1400">
                <a:solidFill>
                  <a:srgbClr val="55657A"/>
                </a:solidFill>
              </a:rPr>
              <a:t>Median clearance 296 min vs 41 min for breakdowns;
P75 stretches to 427 min — 7× slower than a typical breakdown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3566160"/>
            <a:ext cx="64008" cy="77724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3520440"/>
            <a:ext cx="6858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80% of events are off-peak  ·  2 AM is the busiest single hour</a:t>
            </a:r>
          </a:p>
          <a:p>
            <a:r>
              <a:rPr sz="1400">
                <a:solidFill>
                  <a:srgbClr val="55657A"/>
                </a:solidFill>
              </a:rPr>
              <a:t>845 events at 2 AM — uncleared night breakdowns become the 8 AM gridlock.
Night-shift coverage is not optional; it is the peak-volume hour.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4617720"/>
            <a:ext cx="64008" cy="77724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0352" y="4572000"/>
            <a:ext cx="6858000" cy="960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Event mix is drifting — static models degrade quietly</a:t>
            </a:r>
          </a:p>
          <a:p>
            <a:r>
              <a:rPr sz="1400">
                <a:solidFill>
                  <a:srgbClr val="55657A"/>
                </a:solidFill>
              </a:rPr>
              <a:t>Breakdown share: 66% → 49% over 6 months.
Road-closure rate: 6.4% → 9.4%. A frozen model never knows this.</a:t>
            </a:r>
          </a:p>
        </p:txBody>
      </p:sp>
      <p:pic>
        <p:nvPicPr>
          <p:cNvPr id="13" name="Picture 12" descr="fig_04_corrido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1417320"/>
            <a:ext cx="4297680" cy="51206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Our Solution: Three Pillars + One Dashboard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One input (the event report).  Three outputs.  One interface.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417320"/>
            <a:ext cx="11521440" cy="41148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57200" y="1453896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PILLAR 1 — Forecast Impact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856232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233A"/>
                </a:solidFill>
              </a:rPr>
              <a:t>   ▸  Road-closure probability (AUC 0.816 on future data)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233A"/>
                </a:solidFill>
              </a:rPr>
              <a:t>   ▸  Expected clearance time — benchmarked per cause from EDA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233A"/>
                </a:solidFill>
              </a:rPr>
              <a:t>   ▸  Severity label: Low / Medium / High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834640"/>
            <a:ext cx="11521440" cy="41148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2871216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PILLAR 2 — Recommendation Engine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3273552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233A"/>
                </a:solidFill>
              </a:rPr>
              <a:t>   ▸  Officer count  |  Barricade flag  |  Diversion route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233A"/>
                </a:solidFill>
              </a:rPr>
              <a:t>   ▸  Nearest responding police station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233A"/>
                </a:solidFill>
              </a:rPr>
              <a:t>   ▸  Plain-English rationale — designed for field officers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4251960"/>
            <a:ext cx="11521440" cy="411480"/>
          </a:xfrm>
          <a:prstGeom prst="rect">
            <a:avLst/>
          </a:prstGeom>
          <a:solidFill>
            <a:srgbClr val="27AE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57200" y="4288536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PILLAR 3 — Post-Event Learning Loop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690872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300"/>
              </a:spcBef>
            </a:pPr>
            <a:r>
              <a:rPr sz="1500">
                <a:solidFill>
                  <a:srgbClr val="1A233A"/>
                </a:solidFill>
              </a:rPr>
              <a:t>   ▸  Monthly retrain on new resolved events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233A"/>
                </a:solidFill>
              </a:rPr>
              <a:t>   ▸  Drift monitoring — alert if AUC drops below 0.70</a:t>
            </a:r>
          </a:p>
          <a:p>
            <a:pPr>
              <a:spcBef>
                <a:spcPts val="300"/>
              </a:spcBef>
            </a:pPr>
            <a:r>
              <a:rPr sz="1500">
                <a:solidFill>
                  <a:srgbClr val="1A233A"/>
                </a:solidFill>
              </a:rPr>
              <a:t>   ▸  Feb 2024 proof: retrained +1.8 pp vs frozen static model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5760720"/>
            <a:ext cx="11521440" cy="6400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400" b="1">
                <a:solidFill>
                  <a:srgbClr val="FF6B00"/>
                </a:solidFill>
              </a:rPr>
              <a:t>Streamlit dashboard: Event Response + City Insights (map · hotspots · corridors)  —  live demo at the finale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Pillar 1: Impact Forecasting — Model Results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CatBoost · time-based train/test split · trained on past, tested on future months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17320"/>
            <a:ext cx="7132320" cy="5120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Road-closure classifier (CatBoost)  —  primary signal</a:t>
            </a:r>
          </a:p>
          <a:p>
            <a:pPr>
              <a:spcBef>
                <a:spcPts val="400"/>
              </a:spcBef>
            </a:pPr>
          </a:p>
          <a:p>
            <a:r>
              <a:rPr sz="1500" b="1">
                <a:solidFill>
                  <a:srgbClr val="FF6B00"/>
                </a:solidFill>
              </a:rPr>
              <a:t>Future months (Mar–Apr 2024)    ROC-AUC  0.816   F1  0.450</a:t>
            </a:r>
          </a:p>
          <a:p>
            <a:r>
              <a:rPr sz="1500" b="1">
                <a:solidFill>
                  <a:srgbClr val="FF6B00"/>
                </a:solidFill>
              </a:rPr>
              <a:t>Unseen corridors (6 held out)      ROC-AUC  ~0.70 (0.696)   F1  0.335</a:t>
            </a:r>
          </a:p>
          <a:p>
            <a:r>
              <a:rPr sz="1500" b="1">
                <a:solidFill>
                  <a:srgbClr val="FF6B00"/>
                </a:solidFill>
              </a:rPr>
              <a:t>Cold-start (unseen corridor + junction)   ROC-AUC  ~0.73 (0.731)</a:t>
            </a:r>
          </a:p>
          <a:p>
            <a:pPr>
              <a:spcBef>
                <a:spcPts val="400"/>
              </a:spcBef>
            </a:pPr>
          </a:p>
          <a:p>
            <a:r>
              <a:rPr sz="1400">
                <a:solidFill>
                  <a:srgbClr val="55657A"/>
                </a:solidFill>
              </a:rPr>
              <a:t>F1 is lower — road closures are rare (8.3%).  AUC is the correct metric</a:t>
            </a:r>
          </a:p>
          <a:p>
            <a:r>
              <a:rPr sz="1400">
                <a:solidFill>
                  <a:srgbClr val="55657A"/>
                </a:solidFill>
              </a:rPr>
              <a:t>for a skewed binary target; it measures ranking ability at all thresholds.</a:t>
            </a:r>
          </a:p>
          <a:p>
            <a:pPr>
              <a:spcBef>
                <a:spcPts val="400"/>
              </a:spcBef>
            </a:pPr>
          </a:p>
          <a:p>
            <a:r>
              <a:rPr sz="1400" b="0">
                <a:solidFill>
                  <a:srgbClr val="1A233A"/>
                </a:solidFill>
              </a:rPr>
              <a:t>Top feature: event cause (36 pts) — closure risk estimated from cause alone</a:t>
            </a:r>
          </a:p>
          <a:p>
            <a:r>
              <a:rPr sz="1400">
                <a:solidFill>
                  <a:srgbClr val="55657A"/>
                </a:solidFill>
              </a:rPr>
              <a:t>even when corridor is entirely unseen.</a:t>
            </a:r>
          </a:p>
          <a:p>
            <a:pPr>
              <a:spcBef>
                <a:spcPts val="400"/>
              </a:spcBef>
            </a:pPr>
          </a:p>
          <a:p>
            <a:r>
              <a:rPr sz="1700" b="1">
                <a:solidFill>
                  <a:srgbClr val="1A233A"/>
                </a:solidFill>
              </a:rPr>
              <a:t>Duration benchmark  —  planning uncertainty</a:t>
            </a:r>
          </a:p>
          <a:p>
            <a:r>
              <a:rPr sz="1400">
                <a:solidFill>
                  <a:srgbClr val="55657A"/>
                </a:solidFill>
              </a:rPr>
              <a:t>MAE ~103 min on future data.  R² ≈ 0  (duration is not reliably predictable).</a:t>
            </a:r>
          </a:p>
          <a:p>
            <a:r>
              <a:rPr sz="1400" b="0">
                <a:solidFill>
                  <a:srgbClr val="1A233A"/>
                </a:solidFill>
              </a:rPr>
              <a:t>EDA cause medians used instead:  breakdown 41 min  ·  construction 296 min</a:t>
            </a:r>
          </a:p>
        </p:txBody>
      </p:sp>
      <p:pic>
        <p:nvPicPr>
          <p:cNvPr id="6" name="Picture 5" descr="fig_05_resolution_by_cau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35240" y="2743200"/>
            <a:ext cx="4343400" cy="218541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7635240" y="5029200"/>
            <a:ext cx="4343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i="1">
                <a:solidFill>
                  <a:srgbClr val="55657A"/>
                </a:solidFill>
              </a:rPr>
              <a:t>Clearance time by cause — construction &amp; road_conditions are the &gt;2 h bottlenecks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Pillar 2: Recommendation Engine — A Worked Example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What a field officer sees within seconds of logging an event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17320"/>
            <a:ext cx="11430000" cy="41148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444752"/>
            <a:ext cx="109728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FFFFFF"/>
                </a:solidFill>
              </a:rPr>
              <a:t>Scenario: Construction on Mysore Road · 9 AM · High priority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938528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Expected clearance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06240" y="193852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6B00"/>
                </a:solidFill>
              </a:rPr>
              <a:t>~296 min  (EDA: construction median — nearly 5 hours)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05456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Road-closure probability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2505456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6B00"/>
                </a:solidFill>
              </a:rPr>
              <a:t>68%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3072384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Severity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06240" y="3072384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6B00"/>
                </a:solidFill>
              </a:rPr>
              <a:t>HIGH  (all four scoring signals fire)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3639312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Recommended officers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06240" y="3639312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6B00"/>
                </a:solidFill>
              </a:rPr>
              <a:t>10  (base 6 + 2 peak-hour + 2 closure bonus)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4206240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Barricading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206240" y="4206240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6B00"/>
                </a:solidFill>
              </a:rPr>
              <a:t>YES  (68% &gt; 35% threshold = 4× the historical base rate)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4773168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Diversion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06240" y="4773168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6B00"/>
                </a:solidFill>
              </a:rPr>
              <a:t>Magadi Road or Chord Road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5340096"/>
            <a:ext cx="36576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 b="1">
                <a:solidFill>
                  <a:srgbClr val="1A233A"/>
                </a:solidFill>
              </a:rPr>
              <a:t>Responding station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06240" y="5340096"/>
            <a:ext cx="777240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600">
                <a:solidFill>
                  <a:srgbClr val="FF6B00"/>
                </a:solidFill>
              </a:rPr>
              <a:t>Halasuru Gate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5760720"/>
            <a:ext cx="115214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>
                <a:solidFill>
                  <a:srgbClr val="55657A"/>
                </a:solidFill>
              </a:rPr>
              <a:t>▸  Officer count: severity tier sets base (Low=2, Med=4, High=6); peak-hour and closure bonuses are structured — no black box</a:t>
            </a:r>
          </a:p>
          <a:p>
            <a:r>
              <a:rPr sz="1200">
                <a:solidFill>
                  <a:srgbClr val="55657A"/>
                </a:solidFill>
              </a:rPr>
              <a:t>▸  Barricade threshold 35% = 4× historical base rate of 8.3%</a:t>
            </a:r>
          </a:p>
          <a:p>
            <a:r>
              <a:rPr sz="1200">
                <a:solidFill>
                  <a:srgbClr val="55657A"/>
                </a:solidFill>
              </a:rPr>
              <a:t>▸  Station fallback: corridor history → zone history → Haversine nearest — never crashes on unseen locations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Pillar 3: The Learning Loop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A static model is a liability — the event mix is already shifting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481328"/>
            <a:ext cx="1325880" cy="34747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508760"/>
            <a:ext cx="12344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Month tested</a:t>
            </a:r>
          </a:p>
        </p:txBody>
      </p:sp>
      <p:sp>
        <p:nvSpPr>
          <p:cNvPr id="7" name="Rectangle 6"/>
          <p:cNvSpPr/>
          <p:nvPr/>
        </p:nvSpPr>
        <p:spPr>
          <a:xfrm>
            <a:off x="1737360" y="1481328"/>
            <a:ext cx="1737360" cy="34747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783080" y="1508760"/>
            <a:ext cx="164592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Static (frozen)</a:t>
            </a:r>
          </a:p>
        </p:txBody>
      </p:sp>
      <p:sp>
        <p:nvSpPr>
          <p:cNvPr id="9" name="Rectangle 8"/>
          <p:cNvSpPr/>
          <p:nvPr/>
        </p:nvSpPr>
        <p:spPr>
          <a:xfrm>
            <a:off x="3520440" y="1481328"/>
            <a:ext cx="1783080" cy="34747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0" y="1508760"/>
            <a:ext cx="169164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Retrained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349240" y="1481328"/>
            <a:ext cx="1417320" cy="347472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394960" y="1508760"/>
            <a:ext cx="1325880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300" b="1">
                <a:solidFill>
                  <a:srgbClr val="FFFFFF"/>
                </a:solidFill>
              </a:rPr>
              <a:t>Difference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1874519"/>
            <a:ext cx="132588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" y="1911095"/>
            <a:ext cx="1234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Jan 2024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737360" y="1874519"/>
            <a:ext cx="173736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783080" y="1911095"/>
            <a:ext cx="1645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0.751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520440" y="1874519"/>
            <a:ext cx="178308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66160" y="1911095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0.747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349240" y="1874519"/>
            <a:ext cx="141732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94960" y="1911095"/>
            <a:ext cx="1325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−0.004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65760" y="2350008"/>
            <a:ext cx="1325880" cy="429768"/>
          </a:xfrm>
          <a:prstGeom prst="rect">
            <a:avLst/>
          </a:prstGeom>
          <a:solidFill>
            <a:srgbClr val="FF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11480" y="2386584"/>
            <a:ext cx="1234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Feb 2024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737360" y="2350008"/>
            <a:ext cx="1737360" cy="429768"/>
          </a:xfrm>
          <a:prstGeom prst="rect">
            <a:avLst/>
          </a:prstGeom>
          <a:solidFill>
            <a:srgbClr val="FF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783080" y="2386584"/>
            <a:ext cx="1645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6B00"/>
                </a:solidFill>
              </a:rPr>
              <a:t>0.696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520440" y="2350008"/>
            <a:ext cx="1783080" cy="429768"/>
          </a:xfrm>
          <a:prstGeom prst="rect">
            <a:avLst/>
          </a:prstGeom>
          <a:solidFill>
            <a:srgbClr val="FF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566160" y="2386584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6B00"/>
                </a:solidFill>
              </a:rPr>
              <a:t>0.714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349240" y="2350008"/>
            <a:ext cx="1417320" cy="429768"/>
          </a:xfrm>
          <a:prstGeom prst="rect">
            <a:avLst/>
          </a:prstGeom>
          <a:solidFill>
            <a:srgbClr val="FFEFE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394960" y="2386584"/>
            <a:ext cx="1325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 b="1">
                <a:solidFill>
                  <a:srgbClr val="FF6B00"/>
                </a:solidFill>
              </a:rPr>
              <a:t>+0.018</a:t>
            </a:r>
          </a:p>
        </p:txBody>
      </p:sp>
      <p:sp>
        <p:nvSpPr>
          <p:cNvPr id="29" name="Rectangle 28"/>
          <p:cNvSpPr/>
          <p:nvPr/>
        </p:nvSpPr>
        <p:spPr>
          <a:xfrm>
            <a:off x="365760" y="2825496"/>
            <a:ext cx="132588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411480" y="2862072"/>
            <a:ext cx="1234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Mar 2024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737360" y="2825496"/>
            <a:ext cx="173736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783080" y="2862072"/>
            <a:ext cx="1645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0.792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520440" y="2825496"/>
            <a:ext cx="178308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3566160" y="2862072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0.805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349240" y="2825496"/>
            <a:ext cx="141732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394960" y="2862072"/>
            <a:ext cx="1325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+0.013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65760" y="3300984"/>
            <a:ext cx="132588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11480" y="3337560"/>
            <a:ext cx="12344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Apr 2024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737360" y="3300984"/>
            <a:ext cx="173736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83080" y="3337560"/>
            <a:ext cx="164592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0.822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3520440" y="3300984"/>
            <a:ext cx="178308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3566160" y="3337560"/>
            <a:ext cx="169164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0.838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349240" y="3300984"/>
            <a:ext cx="1417320" cy="429768"/>
          </a:xfrm>
          <a:prstGeom prst="rect">
            <a:avLst/>
          </a:prstGeom>
          <a:solidFill>
            <a:srgbClr val="F0F3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394960" y="3337560"/>
            <a:ext cx="132588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500">
                <a:solidFill>
                  <a:srgbClr val="1A233A"/>
                </a:solidFill>
              </a:rPr>
              <a:t>+0.016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365760" y="3822191"/>
            <a:ext cx="640080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200" i="1">
                <a:solidFill>
                  <a:srgbClr val="FF6B00"/>
                </a:solidFill>
              </a:rPr>
              <a:t>Feb 2024 — the clearest drift case (static fell below the 0.70 alert line)</a:t>
            </a:r>
          </a:p>
        </p:txBody>
      </p:sp>
      <p:pic>
        <p:nvPicPr>
          <p:cNvPr id="46" name="Picture 45" descr="fig_07_lear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0" y="1737360"/>
            <a:ext cx="5074920" cy="3172968"/>
          </a:xfrm>
          <a:prstGeom prst="rect">
            <a:avLst/>
          </a:prstGeom>
        </p:spPr>
      </p:pic>
      <p:sp>
        <p:nvSpPr>
          <p:cNvPr id="47" name="TextBox 46"/>
          <p:cNvSpPr txBox="1"/>
          <p:nvPr/>
        </p:nvSpPr>
        <p:spPr>
          <a:xfrm>
            <a:off x="365760" y="4617720"/>
            <a:ext cx="640080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500"/>
              </a:spcBef>
            </a:pPr>
            <a:r>
              <a:rPr sz="1500">
                <a:solidFill>
                  <a:srgbClr val="1A233A"/>
                </a:solidFill>
              </a:rPr>
              <a:t>▸  Feb is the clearest case: static drops to AUC 0.696; retrained holds at 0.714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A233A"/>
                </a:solidFill>
              </a:rPr>
              <a:t>▸  Retraining never materially hurts (Jan: −0.004 pp, negligible)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A233A"/>
                </a:solidFill>
              </a:rPr>
              <a:t>▸  Recommended cadence: monthly — aligns with observed cause-mix shift</a:t>
            </a:r>
          </a:p>
          <a:p>
            <a:pPr>
              <a:spcBef>
                <a:spcPts val="500"/>
              </a:spcBef>
            </a:pPr>
            <a:r>
              <a:rPr sz="1500">
                <a:solidFill>
                  <a:srgbClr val="1A233A"/>
                </a:solidFill>
              </a:rPr>
              <a:t>▸  Alert triggered automatically if AUC drops below 0.70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Robustness: Works on Data the Model Has Never Seen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Three validation dimensions — because production is always the future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554480"/>
            <a:ext cx="64008" cy="86868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481328"/>
            <a:ext cx="11247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Future time (primary)</a:t>
            </a:r>
          </a:p>
          <a:p>
            <a:r>
              <a:rPr sz="1400" i="1">
                <a:solidFill>
                  <a:srgbClr val="55657A"/>
                </a:solidFill>
              </a:rPr>
              <a:t>Train Nov–Feb  →  test Mar–Apr 2024</a:t>
            </a:r>
          </a:p>
          <a:p>
            <a:r>
              <a:rPr sz="1500">
                <a:solidFill>
                  <a:srgbClr val="FF6B00"/>
                </a:solidFill>
              </a:rPr>
              <a:t>AUC 0.816 (closure)  ·  MAE ~103 min (duration)  ·  R² ≈ 0 (intentional — use EDA medians)</a:t>
            </a:r>
          </a:p>
        </p:txBody>
      </p:sp>
      <p:sp>
        <p:nvSpPr>
          <p:cNvPr id="7" name="Rectangle 6"/>
          <p:cNvSpPr/>
          <p:nvPr/>
        </p:nvSpPr>
        <p:spPr>
          <a:xfrm>
            <a:off x="320040" y="2724912"/>
            <a:ext cx="64008" cy="86868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48640" y="2651760"/>
            <a:ext cx="11247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Unseen locations</a:t>
            </a:r>
          </a:p>
          <a:p>
            <a:r>
              <a:rPr sz="1400" i="1">
                <a:solidFill>
                  <a:srgbClr val="55657A"/>
                </a:solidFill>
              </a:rPr>
              <a:t>6 corridors held out entirely from training</a:t>
            </a:r>
          </a:p>
          <a:p>
            <a:r>
              <a:rPr sz="1500">
                <a:solidFill>
                  <a:srgbClr val="FF6B00"/>
                </a:solidFill>
              </a:rPr>
              <a:t>AUC ~0.70 (0.696)  ·  Cold-start (unseen corridor + junction): AUC ~0.73 (0.731)</a:t>
            </a:r>
          </a:p>
        </p:txBody>
      </p:sp>
      <p:sp>
        <p:nvSpPr>
          <p:cNvPr id="9" name="Rectangle 8"/>
          <p:cNvSpPr/>
          <p:nvPr/>
        </p:nvSpPr>
        <p:spPr>
          <a:xfrm>
            <a:off x="320040" y="3895343"/>
            <a:ext cx="64008" cy="86868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3822191"/>
            <a:ext cx="1124712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Completely new event</a:t>
            </a:r>
          </a:p>
          <a:p>
            <a:r>
              <a:rPr sz="1400" i="1">
                <a:solidFill>
                  <a:srgbClr val="55657A"/>
                </a:solidFill>
              </a:rPr>
              <a:t>Fog / Low Visibility on NH-44 Bypass — not in any training record</a:t>
            </a:r>
          </a:p>
          <a:p>
            <a:r>
              <a:rPr sz="1500">
                <a:solidFill>
                  <a:srgbClr val="FF6B00"/>
                </a:solidFill>
              </a:rPr>
              <a:t>Degrades gracefully: zone fallback station  ·  AUC-estimated closure  ·  41-min benchmark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937760"/>
            <a:ext cx="11521440" cy="1691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 Out-of-fold target encoding (alpha=20) prevents leakage; new corridors fall back to global prior — no crash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 CatBoost handles completely unseen cause labels natively at inference time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 Three-layer station lookup (corridor → zone → Haversine) always returns a valid station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 116 malformed timestamps caught and corrected — pipeline tolerates real-world messy ASTraM data</a:t>
            </a:r>
          </a:p>
          <a:p>
            <a:pPr>
              <a:spcBef>
                <a:spcPts val="400"/>
              </a:spcBef>
            </a:pPr>
            <a:r>
              <a:rPr sz="1400">
                <a:solidFill>
                  <a:srgbClr val="1A233A"/>
                </a:solidFill>
              </a:rPr>
              <a:t>▸  78/78 formal tests pass — including empty dict, all-unseen categories, and sparse inputs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Real-World Impact &amp; Scalability for BTP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What changes the day BTP deploys this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6400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Immediate operational changes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74520"/>
            <a:ext cx="6217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233A"/>
                </a:solidFill>
              </a:rPr>
              <a:t>▸  Every logged event gets severity label + officer count in under 1 second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276856"/>
            <a:ext cx="6217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233A"/>
                </a:solidFill>
              </a:rPr>
              <a:t>▸  Closure-risk events (Mysore Road construction 68%) trigger barricade pre-staging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2679192"/>
            <a:ext cx="6217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233A"/>
                </a:solidFill>
              </a:rPr>
              <a:t>▸  Night-shift gap quantified: 845 events at 2 AM demand staffed response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081528"/>
            <a:ext cx="6217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233A"/>
                </a:solidFill>
              </a:rPr>
              <a:t>▸  Seasonal planning: March surge (1,956 events) can be resourced in advance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3621024"/>
            <a:ext cx="64008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Scalability — assessment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4032504"/>
            <a:ext cx="6217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233A"/>
                </a:solidFill>
              </a:rPr>
              <a:t>▸  Retraining: under 5 minutes on a laptop; new corridors handled without code changes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4434840"/>
            <a:ext cx="6217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233A"/>
                </a:solidFill>
              </a:rPr>
              <a:t>▸  Real-time feed: replace CSV loader with API call — all downstream logic unchanged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837176"/>
            <a:ext cx="621792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1A233A"/>
                </a:solidFill>
              </a:rPr>
              <a:t>▸  Other cities: retrain on that city's data; one config change (fallback station)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32320" y="1463040"/>
            <a:ext cx="475488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700" b="1">
                <a:solidFill>
                  <a:srgbClr val="C0392B"/>
                </a:solidFill>
              </a:rPr>
              <a:t>What this is not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1874520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5657A"/>
                </a:solidFill>
              </a:rPr>
              <a:t>✗  Not a replacement for field judgment — officer counts are starting points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23760" y="2350008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5657A"/>
                </a:solidFill>
              </a:rPr>
              <a:t>✗  Not a real-time signal controller — it advises dispatchers, does not automate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223760" y="2825496"/>
            <a:ext cx="4572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55657A"/>
                </a:solidFill>
              </a:rPr>
              <a:t>✗  Not a substitute for live traffic feed data — diversion routes not dynamically verified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Test Suite: 78/78 Passing — Zero Failures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Formal reproducible test suite covers every layer of the system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20040" y="1481328"/>
            <a:ext cx="11521440" cy="804672"/>
          </a:xfrm>
          <a:prstGeom prst="rect">
            <a:avLst/>
          </a:prstGeom>
          <a:solidFill>
            <a:srgbClr val="F0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1517904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(32 tests)  Data &amp; Cleaning edge cases</a:t>
            </a:r>
          </a:p>
          <a:p>
            <a:r>
              <a:rPr sz="1400">
                <a:solidFill>
                  <a:srgbClr val="55657A"/>
                </a:solidFill>
              </a:rPr>
              <a:t>Timestamp parsing · negative durations · unseen cause labels · missing fields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47120" y="1618488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7AE60"/>
                </a:solidFill>
              </a:rPr>
              <a:t>✓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359152"/>
            <a:ext cx="11521440" cy="80467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95728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(7 tests)  Accuracy on unseen data</a:t>
            </a:r>
          </a:p>
          <a:p>
            <a:r>
              <a:rPr sz="1400">
                <a:solidFill>
                  <a:srgbClr val="55657A"/>
                </a:solidFill>
              </a:rPr>
              <a:t>AUC on future months · unseen corridors · cold-start — no training data leakage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247120" y="2496312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7AE60"/>
                </a:solidFill>
              </a:rPr>
              <a:t>✓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20040" y="3236976"/>
            <a:ext cx="11521440" cy="804672"/>
          </a:xfrm>
          <a:prstGeom prst="rect">
            <a:avLst/>
          </a:prstGeom>
          <a:solidFill>
            <a:srgbClr val="F0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3273552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(12 tests)  predict_impact robustness</a:t>
            </a:r>
          </a:p>
          <a:p>
            <a:r>
              <a:rPr sz="1400">
                <a:solidFill>
                  <a:srgbClr val="55657A"/>
                </a:solidFill>
              </a:rPr>
              <a:t>Empty dict · all-unseen categories · sparse input — always returns valid in-range output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247120" y="3374136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7AE60"/>
                </a:solidFill>
              </a:rPr>
              <a:t>✓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4114800"/>
            <a:ext cx="11521440" cy="804672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4151376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(24 tests)  recommend() robustness</a:t>
            </a:r>
          </a:p>
          <a:p>
            <a:r>
              <a:rPr sz="1400">
                <a:solidFill>
                  <a:srgbClr val="55657A"/>
                </a:solidFill>
              </a:rPr>
              <a:t>All 17 cause values · unseen corridor + cause · empty dict — always returns all 8 keys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247120" y="4251960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7AE60"/>
                </a:solidFill>
              </a:rPr>
              <a:t>✓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4992624"/>
            <a:ext cx="11521440" cy="804672"/>
          </a:xfrm>
          <a:prstGeom prst="rect">
            <a:avLst/>
          </a:prstGeom>
          <a:solidFill>
            <a:srgbClr val="F0F8F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5029200"/>
            <a:ext cx="105156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(3 tests)  Dashboard smoke test</a:t>
            </a:r>
          </a:p>
          <a:p>
            <a:r>
              <a:rPr sz="1400">
                <a:solidFill>
                  <a:srgbClr val="55657A"/>
                </a:solidFill>
              </a:rPr>
              <a:t>AppTest load · form submit · output rendered — zero exceptions on a full run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47120" y="5129784"/>
            <a:ext cx="548640" cy="502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2400" b="1">
                <a:solidFill>
                  <a:srgbClr val="27AE60"/>
                </a:solidFill>
              </a:rPr>
              <a:t>✓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F5F7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88952" cy="1234440"/>
          </a:xfrm>
          <a:prstGeom prst="rect">
            <a:avLst/>
          </a:prstGeom>
          <a:solidFill>
            <a:srgbClr val="1A23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20040" tIns="137160"/>
          <a:lstStyle/>
          <a:p>
            <a:pPr algn="l"/>
            <a:r>
              <a:rPr sz="2800" b="1">
                <a:solidFill>
                  <a:srgbClr val="FFFFFF"/>
                </a:solidFill>
              </a:rPr>
              <a:t>Roadmap to Production</a:t>
            </a:r>
          </a:p>
          <a:p>
            <a:pPr algn="l"/>
            <a:r>
              <a:rPr sz="1400" b="0">
                <a:solidFill>
                  <a:srgbClr val="B8C5D6"/>
                </a:solidFill>
              </a:rPr>
              <a:t>Built and working today — a clear path from prototype to daily BTP use.</a:t>
            </a:r>
          </a:p>
        </p:txBody>
      </p:sp>
      <p:sp>
        <p:nvSpPr>
          <p:cNvPr id="4" name="Rectangle 3"/>
          <p:cNvSpPr/>
          <p:nvPr/>
        </p:nvSpPr>
        <p:spPr>
          <a:xfrm>
            <a:off x="0" y="1234440"/>
            <a:ext cx="12188952" cy="36576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65760" y="1463040"/>
            <a:ext cx="11430000" cy="34747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800" b="1">
                <a:solidFill>
                  <a:srgbClr val="1A233A"/>
                </a:solidFill>
              </a:rPr>
              <a:t>What we've built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847088"/>
            <a:ext cx="112471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 Notebook: full EDA + model training + learning-loop comparison, all reproducible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 Streamlit dashboard — Event Response + City Insights, inference under 1 second per event</a:t>
            </a:r>
          </a:p>
          <a:p>
            <a:pPr>
              <a:spcBef>
                <a:spcPts val="400"/>
              </a:spcBef>
            </a:pPr>
            <a:r>
              <a:rPr sz="1500">
                <a:solidFill>
                  <a:srgbClr val="1A233A"/>
                </a:solidFill>
              </a:rPr>
              <a:t>▸  Monthly retraining script ready to schedule; 78/78 formal tests pass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2971800"/>
            <a:ext cx="457200" cy="4572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3008376"/>
            <a:ext cx="457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97180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Access to a live ASTraM feed</a:t>
            </a:r>
          </a:p>
          <a:p>
            <a:r>
              <a:rPr sz="1400">
                <a:solidFill>
                  <a:srgbClr val="55657A"/>
                </a:solidFill>
              </a:rPr>
              <a:t>Move from historical replay to real-time recommendations — pipeline is already built for it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3977639"/>
            <a:ext cx="457200" cy="4572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4014215"/>
            <a:ext cx="457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3977639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Feedback labels from field officers</a:t>
            </a:r>
          </a:p>
          <a:p>
            <a:r>
              <a:rPr sz="1400">
                <a:solidFill>
                  <a:srgbClr val="55657A"/>
                </a:solidFill>
              </a:rPr>
              <a:t>"Was the closure prediction right? Was manpower sufficient?" — closes the learning loop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65760" y="4983480"/>
            <a:ext cx="457200" cy="457200"/>
          </a:xfrm>
          <a:prstGeom prst="rect">
            <a:avLst/>
          </a:prstGeom>
          <a:solidFill>
            <a:srgbClr val="FF6B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" y="5020056"/>
            <a:ext cx="457200" cy="38404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983480"/>
            <a:ext cx="1060704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1A233A"/>
                </a:solidFill>
              </a:rPr>
              <a:t>Pilot corridor: Mysore Road  ·  30 days</a:t>
            </a:r>
          </a:p>
          <a:p>
            <a:r>
              <a:rPr sz="1400">
                <a:solidFill>
                  <a:srgbClr val="55657A"/>
                </a:solidFill>
              </a:rPr>
              <a:t>Run recommendations alongside manual dispatch; compare officer utilisation and response time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5989320"/>
            <a:ext cx="11521440" cy="5669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>
                <a:solidFill>
                  <a:srgbClr val="FF6B00"/>
                </a:solidFill>
              </a:rPr>
              <a:t>Already live on Streamlit Cloud and fully reproducible — deployable on BTP's internal network today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