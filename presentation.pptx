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Event Intelligence for BTP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B8C5D6"/>
                </a:solidFill>
              </a:rPr>
              <a:t>From Reactive Response to Proactive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D0DCEA"/>
                </a:solidFill>
              </a:rPr>
              <a:t>▸  Dataset:  8,173 real ASTraM events  ·  Bengaluru  ·  Nov 2023 – Apr 2024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0DCEA"/>
                </a:solidFill>
              </a:rPr>
              <a:t>▸  Three pillars:  Forecast Impact  →  Recommend Resources  →  Keep Learning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0DCEA"/>
                </a:solidFill>
              </a:rPr>
              <a:t>▸  Live prototype:  Streamlit dashboard  +  real-time Event Simulator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D0DCEA"/>
                </a:solidFill>
              </a:rPr>
              <a:t>▸  Every number traces back to BTP's own ASTraM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59436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F99"/>
                </a:solidFill>
              </a:rPr>
              <a:t>Gridlock Hackathon 2.0  ·  PS2  ·  Bengaluru Traffic Police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Problem: Three Gaps BTP Faces Today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BTP's own brief names the gaps — we built exactly one pillar per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73152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33A"/>
                </a:solidFill>
              </a:rPr>
              <a:t>GAP 1 — Impact Not Quantified</a:t>
            </a:r>
          </a:p>
          <a:p>
            <a:r>
              <a:rPr sz="1600">
                <a:solidFill>
                  <a:srgbClr val="55657A"/>
                </a:solidFill>
              </a:rPr>
              <a:t>Officers arrive with no estimate of how long an event will last
or whether the road will close. Every incident looks equally urgent.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80360"/>
            <a:ext cx="73152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33A"/>
                </a:solidFill>
              </a:rPr>
              <a:t>GAP 2 — Experience-Driven Deployment</a:t>
            </a:r>
          </a:p>
          <a:p>
            <a:r>
              <a:rPr sz="1600">
                <a:solidFill>
                  <a:srgbClr val="55657A"/>
                </a:solidFill>
              </a:rPr>
              <a:t>Manpower decisions depend on individual judgment — inconsistent
across shifts and zones. No principled resource model exists.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343400"/>
            <a:ext cx="73152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4340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33A"/>
                </a:solidFill>
              </a:rPr>
              <a:t>GAP 3 — No Post-Event Learning</a:t>
            </a:r>
          </a:p>
          <a:p>
            <a:r>
              <a:rPr sz="1600">
                <a:solidFill>
                  <a:srgbClr val="55657A"/>
                </a:solidFill>
              </a:rPr>
              <a:t>Each event is forgotten once cleared. Patterns repeat. The system
never improves. The event mix keeps shifting undetected.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</a:rPr>
              <a:t>94% of events are unplanned  |  62% (5,030) flagged High priority  |  Event mix shifts month-over-month without a learning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Data: Real BTP Records — No Synthetic Fabrication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8,173 ASTraM events · 6 months · entire city · used as-is from the provided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1A233A"/>
                </a:solidFill>
              </a:rPr>
              <a:t>▸  Time span: November 2023 – April 2024 — 6 full months of city-wide incident data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233A"/>
                </a:solidFill>
              </a:rPr>
              <a:t>▸  Coverage: all corridors, zones, junctions, and priority levels across Bengaluru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233A"/>
                </a:solidFill>
              </a:rPr>
              <a:t>▸  116 malformed timestamps caught and corrected during ingestion — zero silent data loss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233A"/>
                </a:solidFill>
              </a:rPr>
              <a:t>▸  Features used at inference: event cause, type, corridor, zone, junction, police station,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55657A"/>
                </a:solidFill>
              </a:rPr>
              <a:t>      vehicle type, priority, latitude/longitude, hour, day-of-week, month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233A"/>
                </a:solidFill>
              </a:rPr>
              <a:t>▸  Only provided ASTraM data used — no external feeds, no synthetic rows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233A"/>
                </a:solidFill>
              </a:rPr>
              <a:t>▸  Every figure traces to a specific cell in the dataset or EDA table — fully auditable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Key Insights: What the Data Actually Says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Four findings that directly shape the solution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64008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6858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60% breakdowns  ·  two corridors carry 100% high-priority</a:t>
            </a:r>
          </a:p>
          <a:p>
            <a:r>
              <a:rPr sz="1400">
                <a:solidFill>
                  <a:srgbClr val="55657A"/>
                </a:solidFill>
              </a:rPr>
              <a:t>4,896 vehicle breakdowns — concentrated on Mysore Road (743 events)
and Bellary Road 1 (610 events), both 100% high-priority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514600"/>
            <a:ext cx="64008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468880"/>
            <a:ext cx="6858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Construction = 5-hour bottleneck</a:t>
            </a:r>
          </a:p>
          <a:p>
            <a:r>
              <a:rPr sz="1400">
                <a:solidFill>
                  <a:srgbClr val="55657A"/>
                </a:solidFill>
              </a:rPr>
              <a:t>Median clearance 296 min vs 41 min for breakdowns;
P75 stretches to 427 min — 7× slower than a typical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566160"/>
            <a:ext cx="64008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520440"/>
            <a:ext cx="6858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80% of events are off-peak  ·  2 AM is the busiest single hour</a:t>
            </a:r>
          </a:p>
          <a:p>
            <a:r>
              <a:rPr sz="1400">
                <a:solidFill>
                  <a:srgbClr val="55657A"/>
                </a:solidFill>
              </a:rPr>
              <a:t>845 events at 2 AM — uncleared night breakdowns become the 8 AM gridlock.
Night-shift coverage is not optional; it is the peak-volume hour.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617720"/>
            <a:ext cx="64008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572000"/>
            <a:ext cx="6858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Event mix is drifting — static models degrade quietly</a:t>
            </a:r>
          </a:p>
          <a:p>
            <a:r>
              <a:rPr sz="1400">
                <a:solidFill>
                  <a:srgbClr val="55657A"/>
                </a:solidFill>
              </a:rPr>
              <a:t>Breakdown share: 66% → 49% over 6 months.
Road-closure rate: 6.4% → 9.4%. A frozen model never knows this.</a:t>
            </a:r>
          </a:p>
        </p:txBody>
      </p:sp>
      <p:pic>
        <p:nvPicPr>
          <p:cNvPr id="13" name="Picture 12" descr="fig_04_corrid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2976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Our Solution: Three Pillars + One Dashboard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One input (the event report).  Three outputs.  One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1152144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53896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PILLAR 1 — Forecast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2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Road-closure probability (AUC 0.816 on future data)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Expected clearance time — benchmarked per cause from EDA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Severity label: Low / Medium /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11521440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PILLAR 2 — Recommendation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7355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Officer count  |  Barricade flag  |  Diversion route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Nearest responding police station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Plain-English rationale — designed for field officers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51960"/>
            <a:ext cx="115214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288536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PILLAR 3 — Post-Event Learning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9087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Monthly retrain on new resolved events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Drift monitoring — alert if AUC drops below 0.70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233A"/>
                </a:solidFill>
              </a:rPr>
              <a:t>   ▸  Feb 2024 proof: retrained +1.8 pp vs frozen static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76072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</a:rPr>
              <a:t>Streamlit dashboard: live map · hotspot heatmap · trend charts · Event Simulator (live demo at the finale)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Pillar 1: Impact Forecasting — Model Results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CatBoost · time-based train/test split · trained on past, tested on future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7132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Road-closure classifier (CatBoost)  —  primary signal</a:t>
            </a:r>
          </a:p>
          <a:p>
            <a:pPr>
              <a:spcBef>
                <a:spcPts val="400"/>
              </a:spcBef>
            </a:pPr>
          </a:p>
          <a:p>
            <a:r>
              <a:rPr sz="1500" b="1">
                <a:solidFill>
                  <a:srgbClr val="FF6B00"/>
                </a:solidFill>
              </a:rPr>
              <a:t>Future months (Mar–Apr 2024)    ROC-AUC  0.816   F1  0.450</a:t>
            </a:r>
          </a:p>
          <a:p>
            <a:r>
              <a:rPr sz="1500" b="1">
                <a:solidFill>
                  <a:srgbClr val="FF6B00"/>
                </a:solidFill>
              </a:rPr>
              <a:t>Unseen corridors (6 held out)      ROC-AUC  ~0.70 (0.696)   F1  0.335</a:t>
            </a:r>
          </a:p>
          <a:p>
            <a:r>
              <a:rPr sz="1500" b="1">
                <a:solidFill>
                  <a:srgbClr val="FF6B00"/>
                </a:solidFill>
              </a:rPr>
              <a:t>Cold-start (unseen corridor + junction)   ROC-AUC  ~0.73 (0.731)</a:t>
            </a:r>
          </a:p>
          <a:p>
            <a:pPr>
              <a:spcBef>
                <a:spcPts val="400"/>
              </a:spcBef>
            </a:pPr>
          </a:p>
          <a:p>
            <a:r>
              <a:rPr sz="1400">
                <a:solidFill>
                  <a:srgbClr val="55657A"/>
                </a:solidFill>
              </a:rPr>
              <a:t>F1 is lower — road closures are rare (8.3%).  AUC is the correct metric</a:t>
            </a:r>
          </a:p>
          <a:p>
            <a:r>
              <a:rPr sz="1400">
                <a:solidFill>
                  <a:srgbClr val="55657A"/>
                </a:solidFill>
              </a:rPr>
              <a:t>for a skewed binary target; it measures ranking ability at all thresholds.</a:t>
            </a:r>
          </a:p>
          <a:p>
            <a:pPr>
              <a:spcBef>
                <a:spcPts val="400"/>
              </a:spcBef>
            </a:pPr>
          </a:p>
          <a:p>
            <a:r>
              <a:rPr sz="1400" b="0">
                <a:solidFill>
                  <a:srgbClr val="1A233A"/>
                </a:solidFill>
              </a:rPr>
              <a:t>Top feature: event cause (36 pts) — closure risk estimated from cause alone</a:t>
            </a:r>
          </a:p>
          <a:p>
            <a:r>
              <a:rPr sz="1400">
                <a:solidFill>
                  <a:srgbClr val="55657A"/>
                </a:solidFill>
              </a:rPr>
              <a:t>even when corridor is entirely unseen.</a:t>
            </a:r>
          </a:p>
          <a:p>
            <a:pPr>
              <a:spcBef>
                <a:spcPts val="400"/>
              </a:spcBef>
            </a:pPr>
          </a:p>
          <a:p>
            <a:r>
              <a:rPr sz="1700" b="1">
                <a:solidFill>
                  <a:srgbClr val="1A233A"/>
                </a:solidFill>
              </a:rPr>
              <a:t>Duration benchmark  —  planning uncertainty</a:t>
            </a:r>
          </a:p>
          <a:p>
            <a:r>
              <a:rPr sz="1400">
                <a:solidFill>
                  <a:srgbClr val="55657A"/>
                </a:solidFill>
              </a:rPr>
              <a:t>MAE ~103 min on future data.  R² ≈ 0  (duration is not reliably predictable).</a:t>
            </a:r>
          </a:p>
          <a:p>
            <a:r>
              <a:rPr sz="1400" b="0">
                <a:solidFill>
                  <a:srgbClr val="1A233A"/>
                </a:solidFill>
              </a:rPr>
              <a:t>EDA cause medians used instead:  breakdown 41 min  ·  construction 296 min</a:t>
            </a:r>
          </a:p>
        </p:txBody>
      </p:sp>
      <p:pic>
        <p:nvPicPr>
          <p:cNvPr id="6" name="Picture 5" descr="fig_07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417320"/>
            <a:ext cx="42062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Pillar 2: Recommendation Engine — A Worked Example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What a field officer sees within seconds of logging an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Scenario: Construction on Mysore Road · 9 AM · High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Expected clearance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385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6B00"/>
                </a:solidFill>
              </a:rPr>
              <a:t>~296 min  (EDA: construction median — nearly 5 hours)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Road-closure probability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05456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6B00"/>
                </a:solidFill>
              </a:rPr>
              <a:t>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72384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72384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6B00"/>
                </a:solidFill>
              </a:rPr>
              <a:t>HIGH  (all four scoring signals fire)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9312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Recommended officers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63931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6B00"/>
                </a:solidFill>
              </a:rPr>
              <a:t>10  (base 6 + 2 peak-hour + 2 closure bonus)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Barricading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2062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6B00"/>
                </a:solidFill>
              </a:rPr>
              <a:t>YES  (62% &gt; 35% threshold = 4× the historical base rate)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Diversion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7731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6B00"/>
                </a:solidFill>
              </a:rPr>
              <a:t>Magadi Road or Chord Road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40096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A"/>
                </a:solidFill>
              </a:rPr>
              <a:t>Responding 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340096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6B00"/>
                </a:solidFill>
              </a:rPr>
              <a:t>Halasuru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657A"/>
                </a:solidFill>
              </a:rPr>
              <a:t>▸  Officer count: severity tier sets base (Low=2, Med=4, High=6); peak-hour and closure bonuses are structured — no black box</a:t>
            </a:r>
          </a:p>
          <a:p>
            <a:r>
              <a:rPr sz="1200">
                <a:solidFill>
                  <a:srgbClr val="55657A"/>
                </a:solidFill>
              </a:rPr>
              <a:t>▸  Barricade threshold 35% = 4× historical base rate of 8.3%</a:t>
            </a:r>
          </a:p>
          <a:p>
            <a:r>
              <a:rPr sz="1200">
                <a:solidFill>
                  <a:srgbClr val="55657A"/>
                </a:solidFill>
              </a:rPr>
              <a:t>▸  Station fallback: corridor history → zone history → Haversine nearest — never crashes on unseen locations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Pillar 3: The Learning Loop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A static model is a liability — the event mix is already shifting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2468880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Month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81328"/>
            <a:ext cx="3291840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50876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Static (frozen) 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81328"/>
            <a:ext cx="2743200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2651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Retrained 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481328"/>
            <a:ext cx="2560320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508760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Difference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246888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11095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Jan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874519"/>
            <a:ext cx="329184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911095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0.751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19"/>
            <a:ext cx="274320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11095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0.747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874519"/>
            <a:ext cx="256032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11095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−0.004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50008"/>
            <a:ext cx="2468880" cy="429768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38658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Feb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350008"/>
            <a:ext cx="3291840" cy="429768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2386584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6B00"/>
                </a:solidFill>
              </a:rPr>
              <a:t>0.696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50008"/>
            <a:ext cx="2743200" cy="429768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38658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6B00"/>
                </a:solidFill>
              </a:rPr>
              <a:t>0.714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2350008"/>
            <a:ext cx="2560320" cy="429768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386584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6B00"/>
                </a:solidFill>
              </a:rPr>
              <a:t>+0.018  ← key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25496"/>
            <a:ext cx="246888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86207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Mar 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825496"/>
            <a:ext cx="329184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286207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0.792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825496"/>
            <a:ext cx="274320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862072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0.805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2825496"/>
            <a:ext cx="256032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2862072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+0.013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00984"/>
            <a:ext cx="246888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33756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Apr 2024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300984"/>
            <a:ext cx="329184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333756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0.822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300984"/>
            <a:ext cx="274320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337560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0.838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300984"/>
            <a:ext cx="2560320" cy="429768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3337560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1A233A"/>
                </a:solidFill>
              </a:rPr>
              <a:t>+0.016</a:t>
            </a:r>
          </a:p>
        </p:txBody>
      </p:sp>
      <p:pic>
        <p:nvPicPr>
          <p:cNvPr id="45" name="Picture 44" descr="fig_07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328"/>
            <a:ext cx="4480560" cy="38404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65760" y="4617720"/>
            <a:ext cx="6858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A233A"/>
                </a:solidFill>
              </a:rPr>
              <a:t>▸  Feb is the clearest case: static drops to AUC 0.696; retrained holds at 0.714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233A"/>
                </a:solidFill>
              </a:rPr>
              <a:t>▸  Retraining never materially hurts (Jan: −0.004 pp, negligible)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233A"/>
                </a:solidFill>
              </a:rPr>
              <a:t>▸  Recommended cadence: monthly — aligns with observed cause-mix shift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233A"/>
                </a:solidFill>
              </a:rPr>
              <a:t>▸  Alert triggered automatically if AUC drops below 0.70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Robustness: Works on Data the Model Has Never Seen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Three validation dimensions — because production is always the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64008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Future time (primary)</a:t>
            </a:r>
          </a:p>
          <a:p>
            <a:r>
              <a:rPr sz="1400" i="1">
                <a:solidFill>
                  <a:srgbClr val="55657A"/>
                </a:solidFill>
              </a:rPr>
              <a:t>Train Nov–Feb  →  test Mar–Apr 2024</a:t>
            </a:r>
          </a:p>
          <a:p>
            <a:r>
              <a:rPr sz="1500">
                <a:solidFill>
                  <a:srgbClr val="FF6B00"/>
                </a:solidFill>
              </a:rPr>
              <a:t>AUC 0.816 (closure)  ·  MAE ~103 min (duration)  ·  R² ≈ 0 (intentional — use EDA medians)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724912"/>
            <a:ext cx="64008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Unseen locations</a:t>
            </a:r>
          </a:p>
          <a:p>
            <a:r>
              <a:rPr sz="1400" i="1">
                <a:solidFill>
                  <a:srgbClr val="55657A"/>
                </a:solidFill>
              </a:rPr>
              <a:t>6 corridors held out entirely from training</a:t>
            </a:r>
          </a:p>
          <a:p>
            <a:r>
              <a:rPr sz="1500">
                <a:solidFill>
                  <a:srgbClr val="FF6B00"/>
                </a:solidFill>
              </a:rPr>
              <a:t>AUC ~0.70 (0.696)  ·  Cold-start (unseen corridor + junction): AUC ~0.73 (0.731)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895343"/>
            <a:ext cx="64008" cy="868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22191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Completely new event</a:t>
            </a:r>
          </a:p>
          <a:p>
            <a:r>
              <a:rPr sz="1400" i="1">
                <a:solidFill>
                  <a:srgbClr val="55657A"/>
                </a:solidFill>
              </a:rPr>
              <a:t>Fog / Low Visibility on NH-44 Bypass — not in any training record</a:t>
            </a:r>
          </a:p>
          <a:p>
            <a:r>
              <a:rPr sz="1500">
                <a:solidFill>
                  <a:srgbClr val="FF6B00"/>
                </a:solidFill>
              </a:rPr>
              <a:t>Degrades gracefully: zone fallback station  ·  AUC-estimated closure  ·  41-min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11521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 Out-of-fold target encoding (alpha=20) prevents leakage; new corridors fall back to global prior — no crash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 CatBoost handles completely unseen cause labels natively at inference time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 Three-layer station lookup (corridor → zone → Haversine) always returns a valid station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 116 malformed timestamps caught and corrected — pipeline tolerates real-world messy ASTraM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 78/78 formal tests pass — including empty dict, all-unseen categories, and sparse inputs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Real-World Impact &amp; Scalability for BTP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What changes the day BTP deploys this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6400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Immediate operational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33A"/>
                </a:solidFill>
              </a:rPr>
              <a:t>▸  Every logged event gets severity label + officer count in under 1 second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33A"/>
                </a:solidFill>
              </a:rPr>
              <a:t>▸  Closure-risk events (Mysore Road construction 62%) trigger barricade pre-staging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919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33A"/>
                </a:solidFill>
              </a:rPr>
              <a:t>▸  Night-shift gap quantified: 845 events at 2 AM demand staffed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8152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33A"/>
                </a:solidFill>
              </a:rPr>
              <a:t>▸  Seasonal planning: March surge (1,956 events) can be resourced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21024"/>
            <a:ext cx="6400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Scalability —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3250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33A"/>
                </a:solidFill>
              </a:rPr>
              <a:t>▸  Retraining: under 5 minutes on a laptop; new corridors handled without code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33A"/>
                </a:solidFill>
              </a:rPr>
              <a:t>▸  Real-time feed: replace CSV loader with API call — all downstream logic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3717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233A"/>
                </a:solidFill>
              </a:rPr>
              <a:t>▸  Other cities: retrain on that city's data; one config change (fallback station)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46304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0392B"/>
                </a:solidFill>
              </a:rPr>
              <a:t>What this is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657A"/>
                </a:solidFill>
              </a:rPr>
              <a:t>✗  Not a replacement for field judgment — officer counts are starting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3500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657A"/>
                </a:solidFill>
              </a:rPr>
              <a:t>✗  Not a real-time signal controller — it advises dispatchers, does not automate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8254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657A"/>
                </a:solidFill>
              </a:rPr>
              <a:t>✗  Not a substitute for live traffic feed data — diversion routes not dynamically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Test Suite: 78/78 Passing — Zero Failures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Formal reproducible test suite covers every layer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81328"/>
            <a:ext cx="11521440" cy="804672"/>
          </a:xfrm>
          <a:prstGeom prst="rect">
            <a:avLst/>
          </a:prstGeom>
          <a:solidFill>
            <a:srgbClr val="F0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(32 tests)  Data &amp; Cleaning edge cases</a:t>
            </a:r>
          </a:p>
          <a:p>
            <a:r>
              <a:rPr sz="1400">
                <a:solidFill>
                  <a:srgbClr val="55657A"/>
                </a:solidFill>
              </a:rPr>
              <a:t>Timestamp parsing · negative durations · unseen cause labels · missing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1618488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59152"/>
            <a:ext cx="11521440" cy="8046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(7 tests)  Accuracy on unseen data</a:t>
            </a:r>
          </a:p>
          <a:p>
            <a:r>
              <a:rPr sz="1400">
                <a:solidFill>
                  <a:srgbClr val="55657A"/>
                </a:solidFill>
              </a:rPr>
              <a:t>AUC on future months · unseen corridors · cold-start — no training data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2496312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36976"/>
            <a:ext cx="11521440" cy="804672"/>
          </a:xfrm>
          <a:prstGeom prst="rect">
            <a:avLst/>
          </a:prstGeom>
          <a:solidFill>
            <a:srgbClr val="F0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7355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(12 tests)  predict_impact robustness</a:t>
            </a:r>
          </a:p>
          <a:p>
            <a:r>
              <a:rPr sz="1400">
                <a:solidFill>
                  <a:srgbClr val="55657A"/>
                </a:solidFill>
              </a:rPr>
              <a:t>Empty dict · all-unseen categories · sparse input — always returns valid in-range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3374136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114800"/>
            <a:ext cx="11521440" cy="8046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5137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(24 tests)  recommend() robustness</a:t>
            </a:r>
          </a:p>
          <a:p>
            <a:r>
              <a:rPr sz="1400">
                <a:solidFill>
                  <a:srgbClr val="55657A"/>
                </a:solidFill>
              </a:rPr>
              <a:t>All 17 cause values · unseen corridor + cause · empty dict — always returns all 8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425196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7AE60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992624"/>
            <a:ext cx="11521440" cy="804672"/>
          </a:xfrm>
          <a:prstGeom prst="rect">
            <a:avLst/>
          </a:prstGeom>
          <a:solidFill>
            <a:srgbClr val="F0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(3 tests)  Dashboard smoke test</a:t>
            </a:r>
          </a:p>
          <a:p>
            <a:r>
              <a:rPr sz="1400">
                <a:solidFill>
                  <a:srgbClr val="55657A"/>
                </a:solidFill>
              </a:rPr>
              <a:t>AppTest load · form submit · output rendered — zero exceptions on a full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5129784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7AE60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Ask</a:t>
            </a:r>
          </a:p>
          <a:p>
            <a:pPr algn="l"/>
            <a:r>
              <a:rPr sz="1400" b="0">
                <a:solidFill>
                  <a:srgbClr val="B8C5D6"/>
                </a:solidFill>
              </a:rPr>
              <a:t>One prototype ready now.  Three things needed to make it operational.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233A"/>
                </a:solidFill>
              </a:rPr>
              <a:t>What we've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 Notebook: full EDA + model training + learning-loop comparison, all reproducible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 Streamlit dashboard with live Event Simulator — inference under 1 second per event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 Monthly retraining script ready to schedule; 78/78 formal tests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71800"/>
            <a:ext cx="45720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008376"/>
            <a:ext cx="457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Access to a live ASTraM feed</a:t>
            </a:r>
          </a:p>
          <a:p>
            <a:r>
              <a:rPr sz="1400">
                <a:solidFill>
                  <a:srgbClr val="55657A"/>
                </a:solidFill>
              </a:rPr>
              <a:t>Move from historical replay to real-time recommendations — pipeline is already built for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39"/>
            <a:ext cx="45720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014215"/>
            <a:ext cx="457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77639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Feedback labels from field officers</a:t>
            </a:r>
          </a:p>
          <a:p>
            <a:r>
              <a:rPr sz="1400">
                <a:solidFill>
                  <a:srgbClr val="55657A"/>
                </a:solidFill>
              </a:rPr>
              <a:t>"Was the closure prediction right? Was manpower sufficient?" — closes the learning 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83480"/>
            <a:ext cx="45720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020056"/>
            <a:ext cx="457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834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33A"/>
                </a:solidFill>
              </a:rPr>
              <a:t>Pilot corridor: Mysore Road  ·  30 days</a:t>
            </a:r>
          </a:p>
          <a:p>
            <a:r>
              <a:rPr sz="1400">
                <a:solidFill>
                  <a:srgbClr val="55657A"/>
                </a:solidFill>
              </a:rPr>
              <a:t>Run recommendations alongside manual dispatch; compare officer utilisation and response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8932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</a:rPr>
              <a:t>Flipkart ask: infrastructure + deployment support for the Streamlit dashboard on BTP's internal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